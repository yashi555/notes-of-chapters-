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Anton" pitchFamily="2" charset="0"/>
      <p:regular r:id="rId31"/>
    </p:embeddedFont>
    <p:embeddedFont>
      <p:font typeface="Canva Sans" panose="020B0604020202020204" charset="0"/>
      <p:regular r:id="rId32"/>
    </p:embeddedFont>
    <p:embeddedFont>
      <p:font typeface="Canva Sans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3:47:49.87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1458 910 24575,'21'-2'0,"-1"0"0,0-1 0,1-1 0,36-12 0,-25 7 0,781-196-1142,-607 156 1007,289-57 135,-261 58 0,-227 47 0,225-43 159,-171 36-83,115-1 1,-168 9-75,77 2 479,155-16 1,-123-3-482,-91 11 0,-26 6 0,0 0 0,0 0 0,0 0 0,0 0 0,0 0 0,0 0 0,0 0 0,0 0 0,0 0 0,0 0 0,0 0 0,0 0 0,0 0 0,-1 0 0,1 0 0,0 0 0,0 0 0,0 0 0,0 0 0,0 0 0,0 0 0,0 0 0,0 0 0,0 0 0,0-1 0,0 1 0,0 0 0,0 0 0,0 0 0,0 0 0,0 0 0,0 0 0,0 0 0,0 0 0,0 0 0,0 0 0,0 0 0,0 0 0,0 0 0,0 0 0,0 0 0,0 0 0,0 0 0,1 0 0,-1-1 0,0 1 0,-19 0 0,-395 41 0,345-32 0,-651 112 0,251-50 0,307-51 0,121-14 0,-514 43 0,257-31 0,84-2 0,-635-6 0,604-11 0,231 1 0,0 1 0,0 1 0,0 0 0,0 0 0,0 2 0,1-1 0,-1 2 0,1 0 0,0 1 0,-16 9 0,21-10 0,1 0 0,-1 0 0,1 1 0,0 0 0,1 0 0,0 1 0,0-1 0,0 2 0,0-1 0,1 0 0,1 1 0,-1 0 0,1 0 0,0 1 0,1-1 0,0 1 0,-2 9 0,3-5 0,0 1 0,0-1 0,1 1 0,1 0 0,0-1 0,4 23 0,-3-30 0,0-1 0,0 1 0,1-1 0,-1 1 0,1-1 0,1 0 0,-1 0 0,1 0 0,0 0 0,0-1 0,0 1 0,0-1 0,1 0 0,0 0 0,0 0 0,0 0 0,0 0 0,10 5 0,7 1 0,0-1 0,1-1 0,1 0 0,-1-2 0,1-1 0,0 0 0,0-2 0,0-1 0,43-1 0,-26-3 0,0-2 0,-1-1 0,1-3 0,68-22 0,-52 8 0,96-52 0,-84 38 0,-49 28 0,1 0 0,0 1 0,0 2 0,41-7 0,12-3 0,-60 10 0,1 0 0,-1 0 0,14-9 0,-13 6 0,1 1 0,18-6 0,79-26 0,31-8 0,-100 38 0,76-7 0,-68 11 0,-21 0 0,32-9 0,-33 7 0,38-5 0,-7 4 0,95-28 0,26-5 0,-165 39 0,1-1 0,-1 0 0,0-2 0,0 0 0,0 0 0,15-9 0,376-162 0,-399 172 0,38-14 0,64-24 0,23-2 0,114-31 0,-221 65 0,-27 7 0,-5 1 0,-51 3 0,-256 26-212,-219 16-642,-4-27 326,512-16 617,1 2 1,0 0-1,0 2 0,0 1 1,1 0-1,-1 2 0,-23 9 1,-15 12 339,-65 39-1,98-51-406,-89 62-22,36-22 0,54-37 0,27-19 0,-1 0 0,1 0 0,0 1 0,-1-1 0,1 0 0,0 0 0,0 1 0,-1-1 0,1 0 0,0 0 0,-1 1 0,1-1 0,0 0 0,0 1 0,0-1 0,-1 0 0,1 1 0,0-1 0,0 0 0,0 1 0,0-1 0,0 1 0,0-1 0,0 0 0,0 1 0,0-1 0,0 1 0,0-1 0,0 0 0,0 1 0,0 0 0,12 4 0,26-3 0,-33-2 0,100-3 0,-1-5 0,205-42 0,-140 20 0,-93 18 0,0-3 0,108-36 0,-56 2 0,-3 1 0,146-37 0,-41 23 0,-180 45 0,-35 11 0,1 0 0,0 1 0,17-3 0,153-37 0,-91 19 0,45-1 0,-24 6 0,116-22 0,-169 32 0,96-3 0,65 13 0,-216 0 0,0 1 0,0 1 0,0-1 0,0 1 0,0 1 0,0-1 0,0 1 0,0 1 0,-1-1 0,1 1 0,-1 1 0,0-1 0,0 1 0,0 0 0,0 1 0,-1 0 0,11 10 0,-4-2-114,-1 2 1,0-1-1,-1 2 0,0-1 0,-1 1 1,-1 1-1,-1 0 0,0 0 0,-1 1 1,-1 0-1,5 23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3:47:56.65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svg"/><Relationship Id="rId10" Type="http://schemas.openxmlformats.org/officeDocument/2006/relationships/customXml" Target="../ink/ink2.xml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36959" y="314325"/>
            <a:ext cx="9658350" cy="96583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DA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6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7765" y="1459165"/>
            <a:ext cx="7734291" cy="7368670"/>
          </a:xfrm>
          <a:custGeom>
            <a:avLst/>
            <a:gdLst/>
            <a:ahLst/>
            <a:cxnLst/>
            <a:rect l="l" t="t" r="r" b="b"/>
            <a:pathLst>
              <a:path w="7734291" h="7368670">
                <a:moveTo>
                  <a:pt x="0" y="0"/>
                </a:moveTo>
                <a:lnTo>
                  <a:pt x="7734290" y="0"/>
                </a:lnTo>
                <a:lnTo>
                  <a:pt x="7734290" y="7368670"/>
                </a:lnTo>
                <a:lnTo>
                  <a:pt x="0" y="7368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17259300" y="801623"/>
            <a:ext cx="486295" cy="4114800"/>
          </a:xfrm>
          <a:custGeom>
            <a:avLst/>
            <a:gdLst/>
            <a:ahLst/>
            <a:cxnLst/>
            <a:rect l="l" t="t" r="r" b="b"/>
            <a:pathLst>
              <a:path w="486295" h="4114800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413226" y="7387072"/>
            <a:ext cx="1050143" cy="1698492"/>
          </a:xfrm>
          <a:custGeom>
            <a:avLst/>
            <a:gdLst/>
            <a:ahLst/>
            <a:cxnLst/>
            <a:rect l="l" t="t" r="r" b="b"/>
            <a:pathLst>
              <a:path w="1050143" h="1698492">
                <a:moveTo>
                  <a:pt x="0" y="0"/>
                </a:moveTo>
                <a:lnTo>
                  <a:pt x="1050143" y="0"/>
                </a:lnTo>
                <a:lnTo>
                  <a:pt x="1050143" y="1698492"/>
                </a:lnTo>
                <a:lnTo>
                  <a:pt x="0" y="1698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990074" y="3049523"/>
            <a:ext cx="8269226" cy="431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966"/>
              </a:lnSpc>
            </a:pPr>
            <a:r>
              <a:rPr lang="en-US" sz="9966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CHAPTER 4</a:t>
            </a:r>
          </a:p>
          <a:p>
            <a:pPr algn="just">
              <a:lnSpc>
                <a:spcPts val="11765"/>
              </a:lnSpc>
              <a:spcBef>
                <a:spcPct val="0"/>
              </a:spcBef>
            </a:pPr>
            <a:r>
              <a:rPr lang="en-US" sz="11765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USING PYTHON LIBRARIES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A4B48A6-03D5-4106-8B25-5ACE472CA43A}"/>
                  </a:ext>
                </a:extLst>
              </p14:cNvPr>
              <p14:cNvContentPartPr/>
              <p14:nvPr/>
            </p14:nvContentPartPr>
            <p14:xfrm>
              <a:off x="4569506" y="3395880"/>
              <a:ext cx="1698840" cy="424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A4B48A6-03D5-4106-8B25-5ACE472CA4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06866" y="3332880"/>
                <a:ext cx="182448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82BE661-4926-985D-2427-C409C5AA8AA4}"/>
                  </a:ext>
                </a:extLst>
              </p14:cNvPr>
              <p14:cNvContentPartPr/>
              <p14:nvPr/>
            </p14:nvContentPartPr>
            <p14:xfrm>
              <a:off x="-1649494" y="955224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82BE661-4926-985D-2427-C409C5AA8A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712494" y="948960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401" y="857250"/>
            <a:ext cx="723919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88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51249"/>
            <a:ext cx="16230600" cy="641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has a large collection of pre-written code that we can directly use.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collections are stored in the form of modules, libraries, and packages.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Instead of writing code from scratch, programmers can use existing code to: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Save time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 errors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 program readability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2121" y="857250"/>
            <a:ext cx="1006375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88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 Library?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51249"/>
            <a:ext cx="16230600" cy="6416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library in Python is a collection of pre-written modules that contain useful functions, classes, and variables. 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libraries help programmers perform common tasks without writing code from scratch.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simple words, a library provides ready-made code that we can reuse in our programs to make development faster, easier, and more efficient.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comes with a standard library containing many built-in 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33450"/>
            <a:ext cx="1623060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Commonly used Python Libraries: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49500"/>
            <a:ext cx="1623060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many libraries that contain predefined modules and functions to perform specific tasks such as mathematical calculations, scientific computing, GUI creation, and data visualization.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676900"/>
            <a:ext cx="16230600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Standard Library :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The Python Standard Library is a collection of built-in modules that are available with Python installation. These modules do not need to be installed separately.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 of Python Standard library Modules: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maths, cmath, random, statistics , Urllib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NumPy Library :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NumPy (Numerical Python) is a library used for numerical and mathematical computations. It is mainly used for working with arrays and matrices.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SciPy Library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: SciPy (Scientific Python) is built on top of NumPy and is used for advanced scientific and technical computing.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Matplotlib Library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: Matplotlib is a library used for data visualization. It helps in plotting graphs and charts such as line graphs, bar charts, and pie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02286" y="857250"/>
            <a:ext cx="1028342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88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 Module?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335604"/>
            <a:ext cx="16230600" cy="561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 module is a single file containing Python code (.py file).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It may include functions, variables, classes, constants.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Examples :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math.py, random.py, string.py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Its contents can be reused in other programs, without having to rewrite them.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 Understanding: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If a library = a book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Then a module = one chapter in that 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38030" y="933450"/>
            <a:ext cx="901194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 of Python Module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44580"/>
            <a:ext cx="16230600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 Python module is generally divided into the following parts: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Documentation String (Docstring)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: It is written at the beginning of the module to explain the purpose of the module. It is written inside triple quotes.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Statements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: It is used to import other modules and libraries. Placed after docstring.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 :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math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Global Variables (Optional) : 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Variables defined at the module level. These are accessible throughout the module.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 :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 = 3.14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8570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 Definitions : </a:t>
            </a: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Contains functions that perform specific tasks. Improves code reusability.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Example: 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 </a:t>
            </a:r>
            <a:r>
              <a:rPr lang="en-US" sz="3999" b="1" dirty="0" err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area_circle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(r):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return PI * r * r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Definitions (Optional) </a:t>
            </a: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: Used for object-oriented programming. 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Example: 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Circle: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def __</a:t>
            </a:r>
            <a:r>
              <a:rPr lang="en-US" sz="3999" b="1" dirty="0" err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init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__(self, radius):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</a:t>
            </a:r>
            <a:r>
              <a:rPr lang="en-US" sz="3999" b="1" dirty="0" err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self.radius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= radius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Executable Statements / Main Code </a:t>
            </a: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: Code that runs when the module is executed directly. Often written using 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if</a:t>
            </a: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__name__ == "__main__"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624429"/>
            <a:ext cx="6487215" cy="5959916"/>
          </a:xfrm>
          <a:custGeom>
            <a:avLst/>
            <a:gdLst/>
            <a:ahLst/>
            <a:cxnLst/>
            <a:rect l="l" t="t" r="r" b="b"/>
            <a:pathLst>
              <a:path w="6487215" h="5959916">
                <a:moveTo>
                  <a:pt x="0" y="0"/>
                </a:moveTo>
                <a:lnTo>
                  <a:pt x="6487215" y="0"/>
                </a:lnTo>
                <a:lnTo>
                  <a:pt x="6487215" y="5959916"/>
                </a:lnTo>
                <a:lnTo>
                  <a:pt x="0" y="5959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37" r="-2841" b="-83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76897" y="933450"/>
            <a:ext cx="1253420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Example of a Python Module</a:t>
            </a:r>
          </a:p>
        </p:txBody>
      </p:sp>
      <p:sp>
        <p:nvSpPr>
          <p:cNvPr id="4" name="AutoShape 4"/>
          <p:cNvSpPr/>
          <p:nvPr/>
        </p:nvSpPr>
        <p:spPr>
          <a:xfrm>
            <a:off x="6266590" y="3299952"/>
            <a:ext cx="560871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4272308" y="4406081"/>
            <a:ext cx="7602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272308" y="5143500"/>
            <a:ext cx="76029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271074" y="5954661"/>
            <a:ext cx="6604229" cy="589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5713525" y="6987048"/>
            <a:ext cx="6161777" cy="3318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6266590" y="7871952"/>
            <a:ext cx="560871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2753805" y="2918949"/>
            <a:ext cx="2657298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docstring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53106" y="4174861"/>
            <a:ext cx="5163294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import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66968" y="4991099"/>
            <a:ext cx="4349432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global variable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66967" y="6406658"/>
            <a:ext cx="2844135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Functions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66968" y="7510923"/>
            <a:ext cx="358743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Main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8018" y="646778"/>
            <a:ext cx="16031964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Importing Modules in a Python Program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9041" y="1918007"/>
            <a:ext cx="16329918" cy="8003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37763" lvl="2" indent="-579254" algn="l">
              <a:lnSpc>
                <a:spcPts val="5634"/>
              </a:lnSpc>
              <a:buFont typeface="Arial"/>
              <a:buChar char="⚬"/>
            </a:pPr>
            <a:r>
              <a:rPr lang="en-US" sz="4024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Python provides multiple ways to import modules.</a:t>
            </a:r>
          </a:p>
          <a:p>
            <a:pPr marL="977488" lvl="1" indent="-488744" algn="l">
              <a:lnSpc>
                <a:spcPts val="6338"/>
              </a:lnSpc>
              <a:buFont typeface="Arial"/>
              <a:buChar char="•"/>
            </a:pPr>
            <a:r>
              <a:rPr lang="en-US" sz="4527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Importing Entire Module:</a:t>
            </a:r>
          </a:p>
          <a:p>
            <a:pPr marL="1737763" lvl="2" indent="-579254" algn="l">
              <a:lnSpc>
                <a:spcPts val="5634"/>
              </a:lnSpc>
              <a:buFont typeface="Arial"/>
              <a:buChar char="⚬"/>
            </a:pPr>
            <a:r>
              <a:rPr lang="en-US" sz="4024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import module_name</a:t>
            </a:r>
          </a:p>
          <a:p>
            <a:pPr marL="977488" lvl="1" indent="-488744" algn="l">
              <a:lnSpc>
                <a:spcPts val="6338"/>
              </a:lnSpc>
              <a:buFont typeface="Arial"/>
              <a:buChar char="•"/>
            </a:pPr>
            <a:r>
              <a:rPr lang="en-US" sz="4527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Importing Select Objects from a Module:</a:t>
            </a:r>
          </a:p>
          <a:p>
            <a:pPr marL="1737763" lvl="2" indent="-579254" algn="l">
              <a:lnSpc>
                <a:spcPts val="5634"/>
              </a:lnSpc>
              <a:buFont typeface="Arial"/>
              <a:buChar char="⚬"/>
            </a:pPr>
            <a:r>
              <a:rPr lang="en-US" sz="4024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from module import objectname</a:t>
            </a:r>
          </a:p>
          <a:p>
            <a:pPr marL="1737763" lvl="2" indent="-579254" algn="l">
              <a:lnSpc>
                <a:spcPts val="5634"/>
              </a:lnSpc>
              <a:buFont typeface="Arial"/>
              <a:buChar char="⚬"/>
            </a:pPr>
            <a:r>
              <a:rPr lang="en-US" sz="4024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Single Object:  </a:t>
            </a:r>
          </a:p>
          <a:p>
            <a:pPr marL="2606644" lvl="3" indent="-651661" algn="l">
              <a:lnSpc>
                <a:spcPts val="5634"/>
              </a:lnSpc>
              <a:buFont typeface="Arial"/>
              <a:buChar char="￭"/>
            </a:pPr>
            <a:r>
              <a:rPr lang="en-US" sz="4024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from math import pi</a:t>
            </a:r>
          </a:p>
          <a:p>
            <a:pPr marL="1737763" lvl="2" indent="-579254" algn="l">
              <a:lnSpc>
                <a:spcPts val="5634"/>
              </a:lnSpc>
              <a:buFont typeface="Arial"/>
              <a:buChar char="⚬"/>
            </a:pPr>
            <a:r>
              <a:rPr lang="en-US" sz="4024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Multiple Objects:</a:t>
            </a:r>
          </a:p>
          <a:p>
            <a:pPr marL="2606644" lvl="3" indent="-651661" algn="l">
              <a:lnSpc>
                <a:spcPts val="5634"/>
              </a:lnSpc>
              <a:buFont typeface="Arial"/>
              <a:buChar char="￭"/>
            </a:pPr>
            <a:r>
              <a:rPr lang="en-US" sz="4024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from math import sqrt, pow</a:t>
            </a:r>
          </a:p>
          <a:p>
            <a:pPr marL="1737763" lvl="2" indent="-579254" algn="l">
              <a:lnSpc>
                <a:spcPts val="5634"/>
              </a:lnSpc>
              <a:buFont typeface="Arial"/>
              <a:buChar char="⚬"/>
            </a:pPr>
            <a:r>
              <a:rPr lang="en-US" sz="4024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all objects of a module:</a:t>
            </a:r>
          </a:p>
          <a:p>
            <a:pPr marL="2606644" lvl="3" indent="-651661" algn="l">
              <a:lnSpc>
                <a:spcPts val="5634"/>
              </a:lnSpc>
              <a:buFont typeface="Arial"/>
              <a:buChar char="￭"/>
            </a:pPr>
            <a:r>
              <a:rPr lang="en-US" sz="4024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from module import 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9135" y="933450"/>
            <a:ext cx="1576972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8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Python’s Processing of Import Module Command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92604"/>
            <a:ext cx="16230600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When a module is imported in a Python program, Python performs a fixed sequence of steps to make the module and its contents available for use.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59135" y="4714875"/>
            <a:ext cx="1576972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Namespace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410200"/>
            <a:ext cx="16000165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 namespace is a mapping of names to objects. It helps Python identify which name refers to which object and avoids name conflicts.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 of Namespaces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Built-in namespace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– contains built-in functions like print(), len()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282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Global namespace</a:t>
            </a: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– names defined in the current program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namespace</a:t>
            </a: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– names defined inside a module.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 dirty="0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 :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import math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print(</a:t>
            </a:r>
            <a:r>
              <a:rPr lang="en-US" sz="3999" b="1" dirty="0" err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math.pi</a:t>
            </a:r>
            <a:r>
              <a:rPr lang="en-US" sz="39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999281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Namespaces avoid confusion between same variable/function names and help prevent name conflicts.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939268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Processing of import module Command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634592"/>
            <a:ext cx="1623060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When Python encounters an import module statement, it: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Searches for the module: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In the current directory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In Python’s standard library directories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843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Loads the module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Executes all statements present in the module once.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Creates a module namespace: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All variables, functions, and classes of the module are stored here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Creates a reference name: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The module name becomes a reference to the module namespace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Accessing members</a:t>
            </a: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marL="2590789" lvl="3" indent="-647697" algn="l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Members must be accessed using dot operator (.)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Example: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math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print(math.sqrt(16))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Processing of from module import object Command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81991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from module_name import object_name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When this statement is executed, Python: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Searches and loads the module (if not already loaded)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Copies the specified object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The object is copied directly into the current namespace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No module name is created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Only the imported object is available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Example: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from math import sqrt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print(sqrt(25))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math.sqrt() is not required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math namespace is not created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398716"/>
            <a:ext cx="10993321" cy="3129826"/>
          </a:xfrm>
          <a:custGeom>
            <a:avLst/>
            <a:gdLst/>
            <a:ahLst/>
            <a:cxnLst/>
            <a:rect l="l" t="t" r="r" b="b"/>
            <a:pathLst>
              <a:path w="10993321" h="3129826">
                <a:moveTo>
                  <a:pt x="0" y="0"/>
                </a:moveTo>
                <a:lnTo>
                  <a:pt x="10993321" y="0"/>
                </a:lnTo>
                <a:lnTo>
                  <a:pt x="10993321" y="3129826"/>
                </a:lnTo>
                <a:lnTo>
                  <a:pt x="0" y="3129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47340" y="933450"/>
            <a:ext cx="10993321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395894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math → module namespace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pi → directly imported into current namespace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35933" y="537527"/>
            <a:ext cx="1285111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8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Built-in Mathematical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377018-6E8B-760D-7E7C-D658EA941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737196"/>
              </p:ext>
            </p:extLst>
          </p:nvPr>
        </p:nvGraphicFramePr>
        <p:xfrm>
          <a:off x="1676400" y="1427847"/>
          <a:ext cx="14706600" cy="8420276"/>
        </p:xfrm>
        <a:graphic>
          <a:graphicData uri="http://schemas.openxmlformats.org/drawingml/2006/table">
            <a:tbl>
              <a:tblPr/>
              <a:tblGrid>
                <a:gridCol w="2941320">
                  <a:extLst>
                    <a:ext uri="{9D8B030D-6E8A-4147-A177-3AD203B41FA5}">
                      <a16:colId xmlns:a16="http://schemas.microsoft.com/office/drawing/2014/main" val="4120039429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3222109144"/>
                    </a:ext>
                  </a:extLst>
                </a:gridCol>
                <a:gridCol w="2346960">
                  <a:extLst>
                    <a:ext uri="{9D8B030D-6E8A-4147-A177-3AD203B41FA5}">
                      <a16:colId xmlns:a16="http://schemas.microsoft.com/office/drawing/2014/main" val="3051634280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4249479217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445450036"/>
                    </a:ext>
                  </a:extLst>
                </a:gridCol>
              </a:tblGrid>
              <a:tr h="1124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rgbClr val="484FA2"/>
                          </a:solidFill>
                          <a:effectLst/>
                        </a:rPr>
                        <a:t>Function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rgbClr val="484FA2"/>
                          </a:solidFill>
                          <a:effectLst/>
                        </a:rPr>
                        <a:t>Syntax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Output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843806"/>
                  </a:ext>
                </a:extLst>
              </a:tr>
              <a:tr h="54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len()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Returns number of elements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len(obj)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len("Python")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6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031146"/>
                  </a:ext>
                </a:extLst>
              </a:tr>
              <a:tr h="54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pow()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484FA2"/>
                          </a:solidFill>
                          <a:effectLst/>
                        </a:rPr>
                        <a:t>Returns x raised to power y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pow(x, y)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pow(2, 3)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8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72226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str()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Converts value to string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str(value)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str(10)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'10'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669261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int()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Converts value to integer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int(value)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int(12.9)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12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53459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float()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Converts value to float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float(value)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float(5)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5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58672"/>
                  </a:ext>
                </a:extLst>
              </a:tr>
              <a:tr h="54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range()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Generates sequence of numbers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range(start, stop, step)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range(1, 5)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1 2 3 4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62168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type()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Returns data type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type(</a:t>
                      </a:r>
                      <a:r>
                        <a:rPr lang="en-IN" sz="2000" dirty="0" err="1">
                          <a:solidFill>
                            <a:srgbClr val="484FA2"/>
                          </a:solidFill>
                          <a:effectLst/>
                        </a:rPr>
                        <a:t>obj</a:t>
                      </a: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type(3.5)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>
                        <a:solidFill>
                          <a:srgbClr val="484FA2"/>
                        </a:solidFill>
                        <a:effectLst/>
                      </a:endParaRP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246305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abs()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Returns absolute value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abs(</a:t>
                      </a:r>
                      <a:r>
                        <a:rPr lang="en-IN" sz="2000" dirty="0" err="1">
                          <a:solidFill>
                            <a:srgbClr val="484FA2"/>
                          </a:solidFill>
                          <a:effectLst/>
                        </a:rPr>
                        <a:t>num</a:t>
                      </a: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abs(-9)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9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22478"/>
                  </a:ext>
                </a:extLst>
              </a:tr>
              <a:tr h="549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divmod()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Returns quotient &amp; remainder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solidFill>
                            <a:srgbClr val="484FA2"/>
                          </a:solidFill>
                          <a:effectLst/>
                        </a:rPr>
                        <a:t>divmod</a:t>
                      </a: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(a, b)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divmod(17, 5)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(3, 2)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739945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sum(iterable)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Sum of elements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sum(iter)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sum([1,2,3])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6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494725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sum(iterable, arg)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Sum + starting value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sum(iter, start)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sum([1,2], 10)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13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02102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max(iterable)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Largest element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max(iter)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max([4,9,2])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9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956422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max(arg1, arg2, …)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Largest value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max(a, b, c)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max(3,7,5)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7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090261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min(iterable)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Smallest element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min(iter)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min([4,9,2])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2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159680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min(arg1, arg2, …)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Smallest value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min(a, b, c)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min(3,7,5)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3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99824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oct()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Converts to octal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oct(int)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oct(10)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0o12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359372"/>
                  </a:ext>
                </a:extLst>
              </a:tr>
              <a:tr h="384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rgbClr val="484FA2"/>
                          </a:solidFill>
                          <a:effectLst/>
                        </a:rPr>
                        <a:t>hex()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Converts to hexadecimal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hex(int)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rgbClr val="484FA2"/>
                          </a:solidFill>
                          <a:effectLst/>
                        </a:rPr>
                        <a:t>hex(15)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rgbClr val="484FA2"/>
                          </a:solidFill>
                          <a:effectLst/>
                        </a:rPr>
                        <a:t>0xf</a:t>
                      </a:r>
                    </a:p>
                  </a:txBody>
                  <a:tcPr marL="33526" marR="33526" marT="16763" marB="167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76699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F1CAE5E-B2DD-17F1-4C7E-0DBC8A151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142716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978672" y="933450"/>
            <a:ext cx="1033065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8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Built-in String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B79C8-50BD-875A-9928-B831750B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560227"/>
              </p:ext>
            </p:extLst>
          </p:nvPr>
        </p:nvGraphicFramePr>
        <p:xfrm>
          <a:off x="1219200" y="2781300"/>
          <a:ext cx="15240000" cy="474023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423254545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91258411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7743073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4159232955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484FA2"/>
                          </a:solidFill>
                          <a:effectLst/>
                        </a:rPr>
                        <a:t>Function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484FA2"/>
                          </a:solidFill>
                          <a:effectLst/>
                        </a:rPr>
                        <a:t>Purpose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484FA2"/>
                          </a:solidFill>
                          <a:effectLst/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484FA2"/>
                          </a:solidFill>
                          <a:effectLst/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004618"/>
                  </a:ext>
                </a:extLst>
              </a:tr>
              <a:tr h="96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484FA2"/>
                          </a:solidFill>
                          <a:effectLst/>
                        </a:rPr>
                        <a:t>join()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Joins sequence into 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" ".join(["Hi","All"])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Hi All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094857"/>
                  </a:ext>
                </a:extLst>
              </a:tr>
              <a:tr h="96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484FA2"/>
                          </a:solidFill>
                          <a:effectLst/>
                        </a:rPr>
                        <a:t>split()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Splits string into list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"Hi All".split()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['Hi','All']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422468"/>
                  </a:ext>
                </a:extLst>
              </a:tr>
              <a:tr h="960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solidFill>
                            <a:srgbClr val="484FA2"/>
                          </a:solidFill>
                          <a:effectLst/>
                        </a:rPr>
                        <a:t>replace()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Replaces substring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solidFill>
                            <a:srgbClr val="484FA2"/>
                          </a:solidFill>
                          <a:effectLst/>
                        </a:rPr>
                        <a:t>"cat".replace("c","b")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solidFill>
                            <a:srgbClr val="484FA2"/>
                          </a:solidFill>
                          <a:effectLst/>
                        </a:rPr>
                        <a:t>bat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81492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0F07679-57C2-A8D8-7086-C01196D64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16138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1765" y="2356055"/>
            <a:ext cx="5691255" cy="6172200"/>
          </a:xfrm>
          <a:custGeom>
            <a:avLst/>
            <a:gdLst/>
            <a:ahLst/>
            <a:cxnLst/>
            <a:rect l="l" t="t" r="r" b="b"/>
            <a:pathLst>
              <a:path w="5691255" h="6172200">
                <a:moveTo>
                  <a:pt x="0" y="0"/>
                </a:moveTo>
                <a:lnTo>
                  <a:pt x="5691255" y="0"/>
                </a:lnTo>
                <a:lnTo>
                  <a:pt x="569125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4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75290" y="2356055"/>
            <a:ext cx="6907021" cy="5921770"/>
          </a:xfrm>
          <a:custGeom>
            <a:avLst/>
            <a:gdLst/>
            <a:ahLst/>
            <a:cxnLst/>
            <a:rect l="l" t="t" r="r" b="b"/>
            <a:pathLst>
              <a:path w="6907021" h="5921770">
                <a:moveTo>
                  <a:pt x="0" y="0"/>
                </a:moveTo>
                <a:lnTo>
                  <a:pt x="6907021" y="0"/>
                </a:lnTo>
                <a:lnTo>
                  <a:pt x="6907021" y="5921770"/>
                </a:lnTo>
                <a:lnTo>
                  <a:pt x="0" y="592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81765" y="942975"/>
            <a:ext cx="14002660" cy="688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Program Using Mathematical Built-in Functions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86350" y="2271419"/>
            <a:ext cx="8115300" cy="6407840"/>
          </a:xfrm>
          <a:custGeom>
            <a:avLst/>
            <a:gdLst/>
            <a:ahLst/>
            <a:cxnLst/>
            <a:rect l="l" t="t" r="r" b="b"/>
            <a:pathLst>
              <a:path w="8115300" h="6407840">
                <a:moveTo>
                  <a:pt x="0" y="0"/>
                </a:moveTo>
                <a:lnTo>
                  <a:pt x="8115300" y="0"/>
                </a:lnTo>
                <a:lnTo>
                  <a:pt x="8115300" y="6407840"/>
                </a:lnTo>
                <a:lnTo>
                  <a:pt x="0" y="6407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5" t="-3066" r="-142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86000" y="933450"/>
            <a:ext cx="1317669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Program Using String Functions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0" y="923925"/>
            <a:ext cx="16091991" cy="936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with Some Standard Library Modulus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8646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Random Module: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630572"/>
            <a:ext cx="16230600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The random module is a part of Python’s Standard Library.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It is used to generate random numbers.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To use the random module, we must first import it.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import random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6424572"/>
            <a:ext cx="11301259" cy="3347998"/>
          </a:xfrm>
          <a:custGeom>
            <a:avLst/>
            <a:gdLst/>
            <a:ahLst/>
            <a:cxnLst/>
            <a:rect l="l" t="t" r="r" b="b"/>
            <a:pathLst>
              <a:path w="11301259" h="3347998">
                <a:moveTo>
                  <a:pt x="0" y="0"/>
                </a:moveTo>
                <a:lnTo>
                  <a:pt x="11301259" y="0"/>
                </a:lnTo>
                <a:lnTo>
                  <a:pt x="11301259" y="3347998"/>
                </a:lnTo>
                <a:lnTo>
                  <a:pt x="0" y="3347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038600" y="253819"/>
            <a:ext cx="98298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Module Functions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C6A175-7250-D8FE-7A4C-C4B8148E6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20486"/>
              </p:ext>
            </p:extLst>
          </p:nvPr>
        </p:nvGraphicFramePr>
        <p:xfrm>
          <a:off x="1066800" y="1746150"/>
          <a:ext cx="15621000" cy="8136166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3208151419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29199662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705502295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72476069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264565343"/>
                    </a:ext>
                  </a:extLst>
                </a:gridCol>
              </a:tblGrid>
              <a:tr h="552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Function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Syntax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Example Code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Output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312289"/>
                  </a:ext>
                </a:extLst>
              </a:tr>
              <a:tr h="1664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random.random()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484FA2"/>
                          </a:solidFill>
                          <a:effectLst/>
                        </a:rPr>
                        <a:t>Generates a random floating-point number between 0.0 and 1.0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random.random()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random.random()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0.63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152451"/>
                  </a:ext>
                </a:extLst>
              </a:tr>
              <a:tr h="1260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random.randint(a, b)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484FA2"/>
                          </a:solidFill>
                          <a:effectLst/>
                        </a:rPr>
                        <a:t>Returns a random integer between a and b (inclusive)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random.randint(a, b)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solidFill>
                            <a:srgbClr val="484FA2"/>
                          </a:solidFill>
                          <a:effectLst/>
                        </a:rPr>
                        <a:t>random.randint</a:t>
                      </a:r>
                      <a:r>
                        <a:rPr lang="en-IN" sz="2800" dirty="0">
                          <a:solidFill>
                            <a:srgbClr val="484FA2"/>
                          </a:solidFill>
                          <a:effectLst/>
                        </a:rPr>
                        <a:t>(1, 10)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484FA2"/>
                          </a:solidFill>
                          <a:effectLst/>
                        </a:rPr>
                        <a:t>7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838076"/>
                  </a:ext>
                </a:extLst>
              </a:tr>
              <a:tr h="1664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random.uniform(a, b)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484FA2"/>
                          </a:solidFill>
                          <a:effectLst/>
                        </a:rPr>
                        <a:t>Returns a random floating-point number between a and b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random.uniform(a, b)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random.uniform(1.5, 5.5)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3.84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578999"/>
                  </a:ext>
                </a:extLst>
              </a:tr>
              <a:tr h="1260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random.randrange(stop)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484FA2"/>
                          </a:solidFill>
                          <a:effectLst/>
                        </a:rPr>
                        <a:t>Returns a random integer from 0 to (stop − 1)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random.randrange(stop)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random.randrange(10)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6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435222"/>
                  </a:ext>
                </a:extLst>
              </a:tr>
              <a:tr h="1664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rgbClr val="484FA2"/>
                          </a:solidFill>
                          <a:effectLst/>
                        </a:rPr>
                        <a:t>random.randrange(start, stop[, step])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solidFill>
                            <a:srgbClr val="484FA2"/>
                          </a:solidFill>
                          <a:effectLst/>
                        </a:rPr>
                        <a:t>Returns a random integer from given range with optional step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solidFill>
                            <a:srgbClr val="484FA2"/>
                          </a:solidFill>
                          <a:effectLst/>
                        </a:rPr>
                        <a:t>random.randrange</a:t>
                      </a:r>
                      <a:r>
                        <a:rPr lang="en-US" sz="2800" dirty="0">
                          <a:solidFill>
                            <a:srgbClr val="484FA2"/>
                          </a:solidFill>
                          <a:effectLst/>
                        </a:rPr>
                        <a:t>(start, stop, step)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2800" dirty="0">
                          <a:solidFill>
                            <a:srgbClr val="484FA2"/>
                          </a:solidFill>
                          <a:effectLst/>
                        </a:rPr>
                        <a:t>random.randrange(2, 20, 2)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484FA2"/>
                          </a:solidFill>
                          <a:effectLst/>
                        </a:rPr>
                        <a:t>14</a:t>
                      </a:r>
                    </a:p>
                  </a:txBody>
                  <a:tcPr marL="51126" marR="51126" marT="25563" marB="25563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16847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329D35F-BE8E-3A21-9F93-F31C00C56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1600199"/>
            <a:ext cx="12358687" cy="887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69002" y="2084449"/>
            <a:ext cx="7890298" cy="5765427"/>
          </a:xfrm>
          <a:custGeom>
            <a:avLst/>
            <a:gdLst/>
            <a:ahLst/>
            <a:cxnLst/>
            <a:rect l="l" t="t" r="r" b="b"/>
            <a:pathLst>
              <a:path w="7890298" h="5765427">
                <a:moveTo>
                  <a:pt x="0" y="0"/>
                </a:moveTo>
                <a:lnTo>
                  <a:pt x="7890298" y="0"/>
                </a:lnTo>
                <a:lnTo>
                  <a:pt x="7890298" y="5765427"/>
                </a:lnTo>
                <a:lnTo>
                  <a:pt x="0" y="5765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41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4297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3" lvl="1" indent="-485777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String Module: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8249"/>
            <a:ext cx="7672848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The string module is a part of Python’s Standard Library.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It provides useful string constants such as letters, digits, and symbols.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To use the string module, we must first import it.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import string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133576" y="537527"/>
            <a:ext cx="1202084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 Module Constants with Output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AABC9F-B518-DEB0-2802-340352C2F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182025"/>
              </p:ext>
            </p:extLst>
          </p:nvPr>
        </p:nvGraphicFramePr>
        <p:xfrm>
          <a:off x="1198352" y="1596509"/>
          <a:ext cx="14651247" cy="7211473"/>
        </p:xfrm>
        <a:graphic>
          <a:graphicData uri="http://schemas.openxmlformats.org/drawingml/2006/table">
            <a:tbl>
              <a:tblPr/>
              <a:tblGrid>
                <a:gridCol w="4883749">
                  <a:extLst>
                    <a:ext uri="{9D8B030D-6E8A-4147-A177-3AD203B41FA5}">
                      <a16:colId xmlns:a16="http://schemas.microsoft.com/office/drawing/2014/main" val="2594436520"/>
                    </a:ext>
                  </a:extLst>
                </a:gridCol>
                <a:gridCol w="4883749">
                  <a:extLst>
                    <a:ext uri="{9D8B030D-6E8A-4147-A177-3AD203B41FA5}">
                      <a16:colId xmlns:a16="http://schemas.microsoft.com/office/drawing/2014/main" val="1163993710"/>
                    </a:ext>
                  </a:extLst>
                </a:gridCol>
                <a:gridCol w="4883749">
                  <a:extLst>
                    <a:ext uri="{9D8B030D-6E8A-4147-A177-3AD203B41FA5}">
                      <a16:colId xmlns:a16="http://schemas.microsoft.com/office/drawing/2014/main" val="1781220435"/>
                    </a:ext>
                  </a:extLst>
                </a:gridCol>
              </a:tblGrid>
              <a:tr h="81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Constant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solidFill>
                            <a:srgbClr val="484FA2"/>
                          </a:solidFill>
                          <a:effectLst/>
                        </a:rPr>
                        <a:t>Output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19061"/>
                  </a:ext>
                </a:extLst>
              </a:tr>
              <a:tr h="1420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string.ascii_letters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Contains all English letters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abcdefghijklmnopqrstuvwxyzABCDEFGHIJKLMNOPQRSTUVWXYZ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626400"/>
                  </a:ext>
                </a:extLst>
              </a:tr>
              <a:tr h="81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string.ascii_lowercase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Contains lowercase letters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abcdefghijklmnopqrstuvwxyz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328778"/>
                  </a:ext>
                </a:extLst>
              </a:tr>
              <a:tr h="81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string.ascii_uppercase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Contains uppercase letters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ABCDEFGHIJKLMNOPQRSTUVWXYZ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509629"/>
                  </a:ext>
                </a:extLst>
              </a:tr>
              <a:tr h="81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string.digits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Contains decimal digits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123456789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34961"/>
                  </a:ext>
                </a:extLst>
              </a:tr>
              <a:tr h="81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string.hexdigits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Contains hexadecimal digits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0123456789abcdefABCDEF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468731"/>
                  </a:ext>
                </a:extLst>
              </a:tr>
              <a:tr h="81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string.octdigits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Contains octal digits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484FA2"/>
                          </a:solidFill>
                          <a:effectLst/>
                        </a:rPr>
                        <a:t>123456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84528"/>
                  </a:ext>
                </a:extLst>
              </a:tr>
              <a:tr h="81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string.punctuation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484FA2"/>
                          </a:solidFill>
                          <a:effectLst/>
                        </a:rPr>
                        <a:t>Contains punctuation symbols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484FA2"/>
                          </a:solidFill>
                          <a:effectLst/>
                        </a:rPr>
                        <a:t>!"#$%&amp;'()*+,-./:;&lt;=&gt;?@[\]^_{</a:t>
                      </a:r>
                    </a:p>
                  </a:txBody>
                  <a:tcPr marL="74970" marR="74970" marT="37485" marB="37485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10826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9F021C9-8A9A-0B9D-25E0-E41614810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1597025"/>
            <a:ext cx="17611889" cy="887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9000" y="476250"/>
            <a:ext cx="11086374" cy="1111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Creating a Python Library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39913"/>
            <a:ext cx="16230600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In Python, a library is a collection of modules, and a package is a collection of related modules arranged in a directory structure.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37197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Structure of a Python Package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067300"/>
            <a:ext cx="16230600" cy="490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 package is a folder (directory) that contains Python modules and a special file named __init__.py.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mypackage/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│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├── __init__.py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├── module1.py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├── module2.py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79030" y="933450"/>
            <a:ext cx="1332994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800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Procedure for Creating a Python Package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8646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 Create a Folder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483088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Create a directory that will act as the package.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mathlib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057775"/>
            <a:ext cx="1623060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Create __init__.py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29325"/>
            <a:ext cx="16230600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Inside the folder, create a file named:</a:t>
            </a:r>
          </a:p>
          <a:p>
            <a:pPr marL="1727192" lvl="2" indent="-575731" algn="l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__init__.py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604125"/>
            <a:ext cx="16230600" cy="77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Create Module Files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604237"/>
            <a:ext cx="162306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Create one or more .py files inside the package.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Example: operations.py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 add(a, b):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return a + b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def sub(a, b):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return a - b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810442"/>
            <a:ext cx="16230600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Package Structure: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mathlib/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│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├── __init__.py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├── operations.py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484FA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8201" y="933450"/>
            <a:ext cx="15349498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/ Importing Python Libraries (Packages)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76959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Once the package is created, it can be used in a Python program using import statements.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484FA2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Method 1: Import Entire Module  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mathlib.operations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print(mathlib.operations.add(5, 3))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484FA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Method 2: Import Specific Function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from mathlib.operations import add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print(add(10, 4))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484FA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52500"/>
            <a:ext cx="16230600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Method 3: Import Module with Alias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import mathlib.operations as op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print(op.sub(8, 2))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484FA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 package is a directory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__init__.py is mandatory to define a package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 library = collection of packages/modules</a:t>
            </a:r>
          </a:p>
          <a:p>
            <a:pPr marL="863596" lvl="1" indent="-431798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Packages help in better organization and reusability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484FA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C4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52965" y="914400"/>
            <a:ext cx="4182070" cy="10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77679"/>
            <a:ext cx="16230600" cy="739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In this chapter, we learned about Python libraries and modules, which provide predefined functions, classes, and constants to perform common programming tasks efficiently. 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We studied the concept of </a:t>
            </a:r>
            <a:r>
              <a:rPr lang="en-US" sz="34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</a:t>
            </a: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4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packages</a:t>
            </a: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34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namespaces</a:t>
            </a: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, and understood how Python processes different import statements. 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The chapter also covered the use of Python’s Standard Library, including built-in mathematical functions, string functions, and commonly used modules such as </a:t>
            </a:r>
            <a:r>
              <a:rPr lang="en-US" sz="34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</a:t>
            </a: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  <a:r>
              <a:rPr lang="en-US" sz="3499" b="1">
                <a:solidFill>
                  <a:srgbClr val="484FA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string</a:t>
            </a: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Finally, we learned how to create our own Python libraries using packages, which helps in organizing, reusing, and maintaining code. 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484FA2"/>
                </a:solidFill>
                <a:latin typeface="Canva Sans"/>
                <a:ea typeface="Canva Sans"/>
                <a:cs typeface="Canva Sans"/>
                <a:sym typeface="Canva Sans"/>
              </a:rPr>
              <a:t>Overall, Python libraries make programming simpler, faster, and more structured, enabling the development of reliable and efficient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2078</Words>
  <Application>Microsoft Office PowerPoint</Application>
  <PresentationFormat>Custom</PresentationFormat>
  <Paragraphs>333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Canva Sans Bold</vt:lpstr>
      <vt:lpstr>Canva Sans</vt:lpstr>
      <vt:lpstr>Calibri</vt:lpstr>
      <vt:lpstr>Anton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using python libraries</dc:title>
  <cp:lastModifiedBy>DHIRENDRA TIWARI</cp:lastModifiedBy>
  <cp:revision>4</cp:revision>
  <dcterms:created xsi:type="dcterms:W3CDTF">2006-08-16T00:00:00Z</dcterms:created>
  <dcterms:modified xsi:type="dcterms:W3CDTF">2025-12-21T03:47:58Z</dcterms:modified>
  <dc:identifier>DAG7XulNdkc</dc:identifier>
</cp:coreProperties>
</file>