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8288000" cy="10287000"/>
  <p:notesSz cx="6858000" cy="9144000"/>
  <p:embeddedFontLst>
    <p:embeddedFont>
      <p:font typeface="Canva Sans Bold" panose="020B0604020202020204" charset="0"/>
      <p:regular r:id="rId37"/>
    </p:embeddedFont>
    <p:embeddedFont>
      <p:font typeface="Jella" panose="020B0604020202020204" charset="-34"/>
      <p:regular r:id="rId38"/>
    </p:embeddedFont>
    <p:embeddedFont>
      <p:font typeface="Muli" panose="020B0604020202020204" charset="0"/>
      <p:regular r:id="rId39"/>
    </p:embeddedFont>
    <p:embeddedFont>
      <p:font typeface="Muli Bold" panose="020B0604020202020204" charset="0"/>
      <p:regular r:id="rId40"/>
    </p:embeddedFont>
    <p:embeddedFont>
      <p:font typeface="Wedges" panose="020B0604020202020204" charset="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02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20850" y="1771950"/>
            <a:ext cx="12246300" cy="6271126"/>
          </a:xfrm>
          <a:custGeom>
            <a:avLst/>
            <a:gdLst/>
            <a:ahLst/>
            <a:cxnLst/>
            <a:rect l="l" t="t" r="r" b="b"/>
            <a:pathLst>
              <a:path w="12246300" h="6271126">
                <a:moveTo>
                  <a:pt x="0" y="0"/>
                </a:moveTo>
                <a:lnTo>
                  <a:pt x="12246300" y="0"/>
                </a:lnTo>
                <a:lnTo>
                  <a:pt x="12246300" y="6271127"/>
                </a:lnTo>
                <a:lnTo>
                  <a:pt x="0" y="6271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517919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309402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 flipH="1">
            <a:off x="13027894" y="5540254"/>
            <a:ext cx="1177117" cy="901826"/>
          </a:xfrm>
          <a:custGeom>
            <a:avLst/>
            <a:gdLst/>
            <a:ahLst/>
            <a:cxnLst/>
            <a:rect l="l" t="t" r="r" b="b"/>
            <a:pathLst>
              <a:path w="1177117" h="901826">
                <a:moveTo>
                  <a:pt x="1177116" y="0"/>
                </a:moveTo>
                <a:lnTo>
                  <a:pt x="0" y="0"/>
                </a:lnTo>
                <a:lnTo>
                  <a:pt x="0" y="901826"/>
                </a:lnTo>
                <a:lnTo>
                  <a:pt x="1177116" y="901826"/>
                </a:lnTo>
                <a:lnTo>
                  <a:pt x="117711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180238" y="3362185"/>
            <a:ext cx="9927524" cy="380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29"/>
              </a:lnSpc>
              <a:spcBef>
                <a:spcPct val="0"/>
              </a:spcBef>
            </a:pPr>
            <a:r>
              <a:rPr lang="en-US" sz="8499" spc="475">
                <a:solidFill>
                  <a:srgbClr val="65503D"/>
                </a:solidFill>
                <a:latin typeface="Wedges"/>
                <a:ea typeface="Wedges"/>
                <a:cs typeface="Wedges"/>
                <a:sym typeface="Wedges"/>
              </a:rPr>
              <a:t>PYTHON REVISION TOUR - CHAPTER 1</a:t>
            </a:r>
          </a:p>
        </p:txBody>
      </p:sp>
      <p:sp>
        <p:nvSpPr>
          <p:cNvPr id="10" name="Freeform 10"/>
          <p:cNvSpPr/>
          <p:nvPr/>
        </p:nvSpPr>
        <p:spPr>
          <a:xfrm rot="-840127">
            <a:off x="4990922" y="3104301"/>
            <a:ext cx="1199384" cy="1172589"/>
          </a:xfrm>
          <a:custGeom>
            <a:avLst/>
            <a:gdLst/>
            <a:ahLst/>
            <a:cxnLst/>
            <a:rect l="l" t="t" r="r" b="b"/>
            <a:pathLst>
              <a:path w="1199384" h="1172589">
                <a:moveTo>
                  <a:pt x="0" y="0"/>
                </a:moveTo>
                <a:lnTo>
                  <a:pt x="1199384" y="0"/>
                </a:lnTo>
                <a:lnTo>
                  <a:pt x="1199384" y="1172588"/>
                </a:lnTo>
                <a:lnTo>
                  <a:pt x="0" y="1172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569886" y="7643027"/>
            <a:ext cx="4918164" cy="100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5503D"/>
                </a:solidFill>
                <a:latin typeface="Jella"/>
                <a:ea typeface="Jella"/>
                <a:cs typeface="Jella"/>
                <a:sym typeface="Jella"/>
              </a:rPr>
              <a:t>by Yashita Tiwari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38055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89794" y="1317972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/>
            </a:p>
            <a:p>
              <a:pPr algn="l">
                <a:lnSpc>
                  <a:spcPts val="5039"/>
                </a:lnSpc>
              </a:pPr>
              <a:endParaRPr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Python is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high-level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,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interpreted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,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general purpose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programming language.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In 1991,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Guido van Rossum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created it. 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It has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simple syntax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and is easy to read and learn.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Python is used in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Web development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,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Data science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,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 Artificial Intelligence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,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Automation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,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Game Development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etc.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996533" y="1704504"/>
            <a:ext cx="6294934" cy="13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7200" b="1" dirty="0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38055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89794" y="1317972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/>
            </a:p>
            <a:p>
              <a:pPr algn="l">
                <a:lnSpc>
                  <a:spcPts val="5039"/>
                </a:lnSpc>
              </a:pPr>
              <a:endParaRPr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Tokens are the most basic units of a program . These are the smallest building blocks of python program.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Like a sentence is comprised of words, a python program is made up of tokens.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Types of tokens in python: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 - Keywords                                         - Operators            </a:t>
              </a:r>
            </a:p>
            <a:p>
              <a:pPr algn="l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             - Identifiers                                         - Punctuators/ Delimiters</a:t>
              </a:r>
            </a:p>
            <a:p>
              <a:pPr algn="l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             - Literals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674283" y="1742604"/>
            <a:ext cx="6709371" cy="102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Tokens in  Python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89794" y="1317972"/>
            <a:ext cx="15054905" cy="7426140"/>
            <a:chOff x="0" y="0"/>
            <a:chExt cx="3965078" cy="19558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/>
            </a:p>
            <a:p>
              <a:pPr algn="l">
                <a:lnSpc>
                  <a:spcPts val="5039"/>
                </a:lnSpc>
              </a:pPr>
              <a:endParaRPr/>
            </a:p>
            <a:p>
              <a:pPr algn="l">
                <a:lnSpc>
                  <a:spcPts val="50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292166" y="1438055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4257724" y="3170217"/>
            <a:ext cx="9919044" cy="4866821"/>
          </a:xfrm>
          <a:custGeom>
            <a:avLst/>
            <a:gdLst/>
            <a:ahLst/>
            <a:cxnLst/>
            <a:rect l="l" t="t" r="r" b="b"/>
            <a:pathLst>
              <a:path w="9919044" h="4866821">
                <a:moveTo>
                  <a:pt x="0" y="0"/>
                </a:moveTo>
                <a:lnTo>
                  <a:pt x="9919044" y="0"/>
                </a:lnTo>
                <a:lnTo>
                  <a:pt x="9919044" y="4866821"/>
                </a:lnTo>
                <a:lnTo>
                  <a:pt x="0" y="48668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938016" y="1667175"/>
            <a:ext cx="12505333" cy="832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800" b="1" dirty="0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Learning Token with the help of Example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38055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89794" y="1317972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Keywords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Reserved words with special meaning in Python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Keywords cannot be used as variable names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Example:</a:t>
              </a: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if, else, True, False, while , def, class, import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896392" y="1733079"/>
            <a:ext cx="10641707" cy="111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Types of Tokens in Python</a:t>
            </a:r>
            <a:r>
              <a:rPr lang="en-US" sz="6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292166" y="1438055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89794" y="1317972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Identifiers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Identifiers are names given to different parts of a program - like variables, functions, classes or objects.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Must follow rules:</a:t>
              </a: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Can’t start with a number</a:t>
              </a: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No spaces or special characters (except _ )</a:t>
              </a: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Case-sensitive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Example</a:t>
              </a: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name, age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89794" y="1317972"/>
            <a:ext cx="15054905" cy="7892795"/>
            <a:chOff x="0" y="0"/>
            <a:chExt cx="3965078" cy="20787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65078" cy="2078761"/>
            </a:xfrm>
            <a:custGeom>
              <a:avLst/>
              <a:gdLst/>
              <a:ahLst/>
              <a:cxnLst/>
              <a:rect l="l" t="t" r="r" b="b"/>
              <a:pathLst>
                <a:path w="3965078" h="2078761">
                  <a:moveTo>
                    <a:pt x="0" y="0"/>
                  </a:moveTo>
                  <a:lnTo>
                    <a:pt x="3965078" y="0"/>
                  </a:lnTo>
                  <a:lnTo>
                    <a:pt x="3965078" y="2078761"/>
                  </a:lnTo>
                  <a:lnTo>
                    <a:pt x="0" y="207876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3965078" cy="2145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 dirty="0"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Literals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Literals are fixed values written directly in the program.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They represent data that does not change while the program is running.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Types of literals:</a:t>
              </a: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Numeric Literals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         These are the numbers written directly in the code.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Integers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Whole numbers (e.g., 10, -25)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Floating Point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Decimal numbers (e.g., 3.14, -0.99)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Complex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Numbers with real and imaginary part (e.g., 3+4j)</a:t>
              </a:r>
            </a:p>
          </p:txBody>
        </p:sp>
      </p:grpSp>
      <p:sp>
        <p:nvSpPr>
          <p:cNvPr id="10" name="Freeform 10"/>
          <p:cNvSpPr/>
          <p:nvPr/>
        </p:nvSpPr>
        <p:spPr>
          <a:xfrm flipH="1">
            <a:off x="292166" y="1438055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292166" y="1438055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322624" y="1028700"/>
            <a:ext cx="15642752" cy="8287727"/>
            <a:chOff x="0" y="0"/>
            <a:chExt cx="4119902" cy="21827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19902" cy="2182776"/>
            </a:xfrm>
            <a:custGeom>
              <a:avLst/>
              <a:gdLst/>
              <a:ahLst/>
              <a:cxnLst/>
              <a:rect l="l" t="t" r="r" b="b"/>
              <a:pathLst>
                <a:path w="4119902" h="2182776">
                  <a:moveTo>
                    <a:pt x="0" y="0"/>
                  </a:moveTo>
                  <a:lnTo>
                    <a:pt x="4119902" y="0"/>
                  </a:lnTo>
                  <a:lnTo>
                    <a:pt x="4119902" y="2182776"/>
                  </a:lnTo>
                  <a:lnTo>
                    <a:pt x="0" y="218277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119902" cy="2249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 dirty="0"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String Literals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Sequence of characters enclosed in quotes. </a:t>
              </a: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Single-line String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Strings written in one line using (‘ ‘) or (“ “) quotes.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        Example: 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               name = “Python”</a:t>
              </a: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Multi-line String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A string that spread across multiple line using triple quotes (""" """).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         Example: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         message = """ multiline 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         string """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292166" y="1438055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89794" y="1317972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Boolean Literal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These are used to represent the truth values. They can have either value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 True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or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 False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.</a:t>
              </a:r>
            </a:p>
            <a:p>
              <a:pPr algn="l">
                <a:lnSpc>
                  <a:spcPts val="5039"/>
                </a:lnSpc>
              </a:pPr>
              <a:endParaRPr lang="en-US" sz="35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Special Literal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Special literal are used to represent the absence of value. It is        represented by special literal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None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.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38055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89794" y="1317972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Operators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Operators are special symbols used to perform operations on    values and variables.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Types of operators in python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Arithmetic Operator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It is used for mathematical operations. 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+ → Addition (10 + 5 = 15)            // → Floor Division (10 // 3 = 3)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- → Subtraction (10 - 5 = 5)          % → Modulus  (10 % 3 = 1)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* → Multiplication (10 * 5 = 50)    ** → Exponentiation (2 ** 3 = 8)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/ → Division (10 / 5 = 2.0)         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38055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89794" y="1317972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Relational Operator :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It is used for comparison.</a:t>
              </a: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 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The result is either True or False.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== → Equal to                                &lt; → Less than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!= → Not equal to                           &gt;= → Greater than or equal to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&gt; → Greater than                           &lt;= → Less than or equal to</a:t>
              </a:r>
            </a:p>
            <a:p>
              <a:pPr algn="l">
                <a:lnSpc>
                  <a:spcPts val="5039"/>
                </a:lnSpc>
              </a:pPr>
              <a:endParaRPr lang="en-US" sz="3599" dirty="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Logical Operator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This operator is used for combining conditional statements.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and → True if both conditions are True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or → True if at least one condition is True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not → Reverses the result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04797" y="1028700"/>
            <a:ext cx="15054905" cy="8530970"/>
            <a:chOff x="0" y="0"/>
            <a:chExt cx="3965078" cy="22468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2246840"/>
            </a:xfrm>
            <a:custGeom>
              <a:avLst/>
              <a:gdLst/>
              <a:ahLst/>
              <a:cxnLst/>
              <a:rect l="l" t="t" r="r" b="b"/>
              <a:pathLst>
                <a:path w="3965078" h="2246840">
                  <a:moveTo>
                    <a:pt x="0" y="0"/>
                  </a:moveTo>
                  <a:lnTo>
                    <a:pt x="3965078" y="0"/>
                  </a:lnTo>
                  <a:lnTo>
                    <a:pt x="3965078" y="2246840"/>
                  </a:lnTo>
                  <a:lnTo>
                    <a:pt x="0" y="224684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313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Assignment Operator :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It is used to assign values to variables.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= → Simple assignment (x = 5)            //= → Floor divide and assign 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+= → Add and assign (x += 3 → x = x + 3)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-= → Subtract and assign                    %= → Modulus and assign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*= → Multiply and assign                     **= → Exponent and assign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/= → Divide and assign                         </a:t>
              </a:r>
            </a:p>
            <a:p>
              <a:pPr algn="l">
                <a:lnSpc>
                  <a:spcPts val="5039"/>
                </a:lnSpc>
              </a:pPr>
              <a:endParaRPr lang="en-US" sz="35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Bitwise Operator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It works on binary form of numbers (bits).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&amp; → Bitwise AND                                ~ → Bitwise NOT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| → Bitwise OR                                     &lt;&lt; → Left shift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^ → Bitwise XOR                                 &gt;&gt; → Right shift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89794" y="1317972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Membership Operator :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It checks for membership in a sequence.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in : True if value is found.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not in : True if value is not found.</a:t>
              </a:r>
            </a:p>
            <a:p>
              <a:pPr algn="l">
                <a:lnSpc>
                  <a:spcPts val="5039"/>
                </a:lnSpc>
              </a:pPr>
              <a:endParaRPr lang="en-US" sz="35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Identity Operator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It helps to identify if two objects have same identity i.e. they share the same memory location.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is : True if objects are same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is not  True if objects are different.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89794" y="1317972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Punctuators / Delimiters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Punctuators are used to define the structure in Python.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Examples 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: → used in functions, loops, conditionals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() → parentheses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[] → list brackets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{} → dictionary or set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, → separator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. → dot operator</a:t>
              </a:r>
            </a:p>
            <a:p>
              <a:pPr algn="l">
                <a:lnSpc>
                  <a:spcPts val="5039"/>
                </a:lnSpc>
              </a:pPr>
              <a:endParaRPr lang="en-US" sz="3599" dirty="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892795"/>
            <a:chOff x="0" y="0"/>
            <a:chExt cx="3965078" cy="20787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2078761"/>
            </a:xfrm>
            <a:custGeom>
              <a:avLst/>
              <a:gdLst/>
              <a:ahLst/>
              <a:cxnLst/>
              <a:rect l="l" t="t" r="r" b="b"/>
              <a:pathLst>
                <a:path w="3965078" h="2078761">
                  <a:moveTo>
                    <a:pt x="0" y="0"/>
                  </a:moveTo>
                  <a:lnTo>
                    <a:pt x="3965078" y="0"/>
                  </a:lnTo>
                  <a:lnTo>
                    <a:pt x="3965078" y="2078761"/>
                  </a:lnTo>
                  <a:lnTo>
                    <a:pt x="0" y="207876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145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/>
            </a:p>
            <a:p>
              <a:pPr algn="l">
                <a:lnSpc>
                  <a:spcPts val="5039"/>
                </a:lnSpc>
              </a:pPr>
              <a:endParaRPr/>
            </a:p>
            <a:p>
              <a:pPr algn="l">
                <a:lnSpc>
                  <a:spcPts val="5039"/>
                </a:lnSpc>
              </a:pPr>
              <a:endParaRPr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A simple python program has 4 parts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Comments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These are used for documentation. The comments are not executed.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Statements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These are code lines that are executed by python line by line.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Identation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For defining code blocks in python, spaces/tabs are used.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Functions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In python, we use functions for writing organized code.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64284" y="1780704"/>
            <a:ext cx="12759433" cy="111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000" b="1" dirty="0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Barebones of a Python Program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892795"/>
            <a:chOff x="0" y="0"/>
            <a:chExt cx="3965078" cy="20787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2078761"/>
            </a:xfrm>
            <a:custGeom>
              <a:avLst/>
              <a:gdLst/>
              <a:ahLst/>
              <a:cxnLst/>
              <a:rect l="l" t="t" r="r" b="b"/>
              <a:pathLst>
                <a:path w="3965078" h="2078761">
                  <a:moveTo>
                    <a:pt x="0" y="0"/>
                  </a:moveTo>
                  <a:lnTo>
                    <a:pt x="3965078" y="0"/>
                  </a:lnTo>
                  <a:lnTo>
                    <a:pt x="3965078" y="2078761"/>
                  </a:lnTo>
                  <a:lnTo>
                    <a:pt x="0" y="207876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145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/>
            </a:p>
            <a:p>
              <a:pPr algn="l">
                <a:lnSpc>
                  <a:spcPts val="5039"/>
                </a:lnSpc>
              </a:pPr>
              <a:endParaRPr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A variable is a name given to a memory location which stores the data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Assignment means storing a value into a variable.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= operator is used for assignment.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In python, multiple assignment can also be done.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Dynamic Typing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In dynamic typing, there is no need to declare data-type explicitly.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Type of variable is decided at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runtime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A variable can change its type during program execution.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804916" y="1371380"/>
            <a:ext cx="8678168" cy="98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5400" b="1" dirty="0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Variables &amp; Assignment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/>
            </a:p>
            <a:p>
              <a:pPr algn="l">
                <a:lnSpc>
                  <a:spcPts val="5039"/>
                </a:lnSpc>
              </a:pPr>
              <a:endParaRPr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Static Typing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In static typing, data type is declared before using the variable.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Type of variable is decided at compile- time.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Variable cannot change its type once declared.</a:t>
              </a:r>
            </a:p>
            <a:p>
              <a:pPr algn="l">
                <a:lnSpc>
                  <a:spcPts val="5039"/>
                </a:lnSpc>
              </a:pPr>
              <a:endParaRPr lang="en-US" sz="35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Example of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Dynamic Typing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:        Example of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Static Typing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x = 10 # integer                               int x = 10 # x is an integer      </a:t>
              </a:r>
            </a:p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x = "Hello" # now string                 x = “Hello” # Error : type mismatch</a:t>
              </a:r>
            </a:p>
            <a:p>
              <a:pPr algn="l">
                <a:lnSpc>
                  <a:spcPts val="5039"/>
                </a:lnSpc>
              </a:pPr>
              <a:endParaRPr lang="en-US" sz="35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/>
            </a:p>
            <a:p>
              <a:pPr algn="l">
                <a:lnSpc>
                  <a:spcPts val="5039"/>
                </a:lnSpc>
              </a:pPr>
              <a:endParaRPr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Input in Python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Python uses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input( )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function for taking data from the user.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By default, input is taken as string.</a:t>
              </a:r>
            </a:p>
            <a:p>
              <a:pPr algn="l">
                <a:lnSpc>
                  <a:spcPts val="5039"/>
                </a:lnSpc>
              </a:pPr>
              <a:endParaRPr lang="en-US" sz="35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Output in Python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Python uses </a:t>
              </a: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print( )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function for output.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Output is used to display the output data on screen.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645025" y="1780704"/>
            <a:ext cx="8997950" cy="111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Simple Input &amp; Output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 dirty="0"/>
            </a:p>
            <a:p>
              <a:pPr algn="l">
                <a:lnSpc>
                  <a:spcPts val="5039"/>
                </a:lnSpc>
              </a:pPr>
              <a:endParaRPr dirty="0"/>
            </a:p>
            <a:p>
              <a:pPr algn="l">
                <a:lnSpc>
                  <a:spcPts val="5039"/>
                </a:lnSpc>
              </a:pPr>
              <a:endParaRPr dirty="0"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Numbers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Numbers are used to store numeric values.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They can be of type</a:t>
              </a: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 int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(whole numbers), </a:t>
              </a: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float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(decimal values) or </a:t>
              </a: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complex numbers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(numbers with real and imaginary parts).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String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String are a sequence of characters enclosed in single, double or triple quotes.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Example : “Hello”, ‘Python’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922244" y="1780704"/>
            <a:ext cx="4443512" cy="111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000" b="1" dirty="0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Types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892795"/>
            <a:chOff x="0" y="0"/>
            <a:chExt cx="3965078" cy="20787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2078761"/>
            </a:xfrm>
            <a:custGeom>
              <a:avLst/>
              <a:gdLst/>
              <a:ahLst/>
              <a:cxnLst/>
              <a:rect l="l" t="t" r="r" b="b"/>
              <a:pathLst>
                <a:path w="3965078" h="2078761">
                  <a:moveTo>
                    <a:pt x="0" y="0"/>
                  </a:moveTo>
                  <a:lnTo>
                    <a:pt x="3965078" y="0"/>
                  </a:lnTo>
                  <a:lnTo>
                    <a:pt x="3965078" y="2078761"/>
                  </a:lnTo>
                  <a:lnTo>
                    <a:pt x="0" y="207876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145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List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List are a ordered collection in python. These are represented by square brackets [ ].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Lists in python are mutable i.e. the state can be changed after creation. It is possible to add or remove elements from a list, change the value of an existing element, or reorder the elements.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fruits = ["apple", "banana", "mango"]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Tuples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Tuples are ordered collection which are represented by ( ).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Tuples are immutable (cannot be changed).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fruits = ("apple", "banana", "mango")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Sets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A set is a collection of unique, unordered collection.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Sets are represented by { } or set( ) function.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Cannot have any duplicate value and are mutable.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numbers = {1, 2, 3, 4, 5}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Dictionary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Dictionary are stored in key-value pairs.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Represented by curly braces { }.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student = {"name": "Riya", "age": 17, "marks": 92}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 dirty="0"/>
            </a:p>
            <a:p>
              <a:pPr algn="l">
                <a:lnSpc>
                  <a:spcPts val="5039"/>
                </a:lnSpc>
              </a:pPr>
              <a:endParaRPr dirty="0"/>
            </a:p>
            <a:p>
              <a:pPr algn="l">
                <a:lnSpc>
                  <a:spcPts val="5039"/>
                </a:lnSpc>
              </a:pPr>
              <a:endParaRPr dirty="0"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Immutable Type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Immutable type such as int, float, string, tuple are stored at a fixed memory location once they are created.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If we try to change the value of a variable, the it points to a new memory location which stores the new value now.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The old object is discarded as no variable is pointing to it, garbage collection.</a:t>
              </a:r>
            </a:p>
            <a:p>
              <a:pPr algn="l">
                <a:lnSpc>
                  <a:spcPts val="5039"/>
                </a:lnSpc>
              </a:pPr>
              <a:endParaRPr lang="en-US" sz="3599" dirty="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044593" y="1705846"/>
            <a:ext cx="12216110" cy="111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000" b="1" dirty="0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Mutable and Immutable Types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Mutable Type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Mutable types such as list, dict, set are stored in the memory as container object.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We can modify the contents without having to create a new object.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Memory address (id) of the object remains the same.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 dirty="0"/>
            </a:p>
            <a:p>
              <a:pPr algn="l">
                <a:lnSpc>
                  <a:spcPts val="5039"/>
                </a:lnSpc>
              </a:pPr>
              <a:endParaRPr dirty="0"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Expression in python is a combination of values, variables, operators and function calls that Python evaluates to compute a result.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Types of Expressions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Arithmetic Expression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helps to perform mathematical operations.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Example : a, b = 5, 10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(a + b)       # evaluates to 15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747073" y="1361855"/>
            <a:ext cx="4793853" cy="111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000" b="1" dirty="0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Expressions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Relational Expression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It helps to compare values. Computes to either True/ False.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Example : x, y = 3, 6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(x &gt; y)       # evaluates to False</a:t>
              </a:r>
            </a:p>
            <a:p>
              <a:pPr algn="l">
                <a:lnSpc>
                  <a:spcPts val="5039"/>
                </a:lnSpc>
              </a:pPr>
              <a:endParaRPr lang="en-US" sz="35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Logical Expression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It uses logical operator (and, or, not) to compute result.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Example : x, y = 5, 6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(x &gt; 2 and y &lt; 10)  # evaluates to True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430430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Type Casting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It is a process of converting one data type into another so that operations between variables of different data types can be performed.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In Python, there are built-in functions to perform type-casting.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Types of type-casting :</a:t>
              </a:r>
            </a:p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Implicit Type Casting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It is done automatically by Python.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It converts the data type to compatible data type. 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Example : x = 2.5, y = 5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x + y        # evalutes to 7.5  (Here, python automatically converts int 5 to float 5.0, to make addition possible.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892795"/>
            <a:chOff x="0" y="0"/>
            <a:chExt cx="3965078" cy="20787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2078761"/>
            </a:xfrm>
            <a:custGeom>
              <a:avLst/>
              <a:gdLst/>
              <a:ahLst/>
              <a:cxnLst/>
              <a:rect l="l" t="t" r="r" b="b"/>
              <a:pathLst>
                <a:path w="3965078" h="2078761">
                  <a:moveTo>
                    <a:pt x="0" y="0"/>
                  </a:moveTo>
                  <a:lnTo>
                    <a:pt x="3965078" y="0"/>
                  </a:lnTo>
                  <a:lnTo>
                    <a:pt x="3965078" y="2078761"/>
                  </a:lnTo>
                  <a:lnTo>
                    <a:pt x="0" y="207876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145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2331691" lvl="3" indent="-582923" algn="l">
                <a:lnSpc>
                  <a:spcPts val="5039"/>
                </a:lnSpc>
                <a:buFont typeface="Arial"/>
                <a:buChar char="￭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Explicit Type Casting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It is done manually by the user with the help of constructor functions.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Some of the common functions used are: </a:t>
              </a:r>
            </a:p>
            <a:p>
              <a:pPr marL="3886151" lvl="5" indent="-647692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int( ), float( ), str( ), list( ), tuple( ), set( )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Example : x = “100”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y = int(x)   # converts string to integer value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y + 10       # evalutes to 110</a:t>
              </a:r>
            </a:p>
            <a:p>
              <a:pPr algn="l">
                <a:lnSpc>
                  <a:spcPts val="5039"/>
                </a:lnSpc>
              </a:pPr>
              <a:endParaRPr lang="en-US" sz="35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Math Library Functions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Python has built-in math library which helps in many mathematical operations.</a:t>
              </a:r>
            </a:p>
            <a:p>
              <a:pPr marL="3108921" lvl="4" indent="-621784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import math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 dirty="0"/>
            </a:p>
            <a:p>
              <a:pPr algn="l">
                <a:lnSpc>
                  <a:spcPts val="5039"/>
                </a:lnSpc>
              </a:pPr>
              <a:endParaRPr dirty="0"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The order in which statements are executed in a program are decided by flow control. 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In python, code is executed line by line, but we can change the sequence using conditions, loops, iterations using flow control.</a:t>
              </a:r>
            </a:p>
            <a:p>
              <a:pPr algn="l">
                <a:lnSpc>
                  <a:spcPts val="5039"/>
                </a:lnSpc>
              </a:pPr>
              <a:endParaRPr lang="en-US" sz="3599" dirty="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Compound Statement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A compound statement is a group of multiple statements that are combined together and executed as a block.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In python, compound statements are written with </a:t>
              </a:r>
              <a:r>
                <a:rPr lang="en-US" sz="3599" dirty="0" err="1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identation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340919" y="1361855"/>
            <a:ext cx="9606161" cy="105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5400" b="1" dirty="0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Statement Flow Control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Simple Statement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Simple statement is a single line of code that performs one action.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No indentation or block is required.</a:t>
              </a:r>
            </a:p>
            <a:p>
              <a:pPr algn="l">
                <a:lnSpc>
                  <a:spcPts val="5039"/>
                </a:lnSpc>
              </a:pPr>
              <a:endParaRPr lang="en-US" sz="35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Empty Statement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An empty statement is a statement that does nothing. 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In python, keyword pass is used to create an empty statement.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It is used as placeholder where code is syntactically required but not yet written. </a:t>
              </a:r>
            </a:p>
            <a:p>
              <a:pPr algn="l">
                <a:lnSpc>
                  <a:spcPts val="5039"/>
                </a:lnSpc>
              </a:pPr>
              <a:endParaRPr lang="en-US" sz="35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595272" y="1233781"/>
            <a:ext cx="15054905" cy="7892795"/>
            <a:chOff x="0" y="0"/>
            <a:chExt cx="3965078" cy="20787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2078761"/>
            </a:xfrm>
            <a:custGeom>
              <a:avLst/>
              <a:gdLst/>
              <a:ahLst/>
              <a:cxnLst/>
              <a:rect l="l" t="t" r="r" b="b"/>
              <a:pathLst>
                <a:path w="3965078" h="2078761">
                  <a:moveTo>
                    <a:pt x="0" y="0"/>
                  </a:moveTo>
                  <a:lnTo>
                    <a:pt x="3965078" y="0"/>
                  </a:lnTo>
                  <a:lnTo>
                    <a:pt x="3965078" y="2078761"/>
                  </a:lnTo>
                  <a:lnTo>
                    <a:pt x="0" y="2078761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1454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 dirty="0"/>
            </a:p>
            <a:p>
              <a:pPr algn="l">
                <a:lnSpc>
                  <a:spcPts val="5039"/>
                </a:lnSpc>
              </a:pPr>
              <a:endParaRPr dirty="0"/>
            </a:p>
            <a:p>
              <a:pPr algn="l">
                <a:lnSpc>
                  <a:spcPts val="5039"/>
                </a:lnSpc>
              </a:pPr>
              <a:endParaRPr dirty="0"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If conditional are used for decision making in Python.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Types of If statement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Simple If statement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It executes a block only if condition is True.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if-else statement 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: Choose between two blocks: one for True another for False.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 if-</a:t>
              </a:r>
              <a:r>
                <a:rPr lang="en-US" sz="3599" b="1" dirty="0" err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elif</a:t>
              </a: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-else ladder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Used when there are multiple conditions to check.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Nested if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if statement inside another if.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383933" y="1361855"/>
            <a:ext cx="5520135" cy="1073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000" b="1" dirty="0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Conditional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350701" cy="8024519"/>
            <a:chOff x="0" y="0"/>
            <a:chExt cx="4042983" cy="211345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42983" cy="2113454"/>
            </a:xfrm>
            <a:custGeom>
              <a:avLst/>
              <a:gdLst/>
              <a:ahLst/>
              <a:cxnLst/>
              <a:rect l="l" t="t" r="r" b="b"/>
              <a:pathLst>
                <a:path w="4042983" h="2113454">
                  <a:moveTo>
                    <a:pt x="0" y="0"/>
                  </a:moveTo>
                  <a:lnTo>
                    <a:pt x="4042983" y="0"/>
                  </a:lnTo>
                  <a:lnTo>
                    <a:pt x="4042983" y="2113454"/>
                  </a:lnTo>
                  <a:lnTo>
                    <a:pt x="0" y="2113454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4042983" cy="2180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A looping statement allows us to execute a block of code repeatedly until a certain condition is met.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In python, two main looping statements are: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while loop</a:t>
              </a:r>
            </a:p>
            <a:p>
              <a:pPr marL="1554461" lvl="2" indent="-518154" algn="l">
                <a:lnSpc>
                  <a:spcPts val="5039"/>
                </a:lnSpc>
                <a:buFont typeface="Arial"/>
                <a:buChar char="⚬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for loop</a:t>
              </a:r>
            </a:p>
            <a:p>
              <a:pPr algn="l">
                <a:lnSpc>
                  <a:spcPts val="5039"/>
                </a:lnSpc>
              </a:pPr>
              <a:endParaRPr lang="en-US" sz="3599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while loop</a:t>
              </a: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A while loop in Python is used when you want to repeat a block of code as long as a condition is true.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081786" y="1648125"/>
            <a:ext cx="8124429" cy="111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000" b="1" dirty="0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Looping Statements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813226"/>
            <a:ext cx="15054905" cy="8445074"/>
            <a:chOff x="0" y="0"/>
            <a:chExt cx="3965078" cy="22242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2224217"/>
            </a:xfrm>
            <a:custGeom>
              <a:avLst/>
              <a:gdLst/>
              <a:ahLst/>
              <a:cxnLst/>
              <a:rect l="l" t="t" r="r" b="b"/>
              <a:pathLst>
                <a:path w="3965078" h="2224217">
                  <a:moveTo>
                    <a:pt x="0" y="0"/>
                  </a:moveTo>
                  <a:lnTo>
                    <a:pt x="3965078" y="0"/>
                  </a:lnTo>
                  <a:lnTo>
                    <a:pt x="3965078" y="2224217"/>
                  </a:lnTo>
                  <a:lnTo>
                    <a:pt x="0" y="222421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290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Example of while loop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count = 1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while count &lt;= 5: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print("Count is:", count)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count += 1</a:t>
              </a:r>
            </a:p>
            <a:p>
              <a:pPr algn="l">
                <a:lnSpc>
                  <a:spcPts val="5039"/>
                </a:lnSpc>
              </a:pPr>
              <a:endParaRPr lang="en-US" sz="3599" dirty="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for loop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A for loop is used to iterate over a sequence (like a list, tuple, string, dictionary, or range) and execute a block of code for each element.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Example of for loop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for </a:t>
              </a:r>
              <a:r>
                <a:rPr lang="en-US" sz="3599" dirty="0" err="1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in range(5):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print(</a:t>
              </a:r>
              <a:r>
                <a:rPr lang="en-US" sz="3599" dirty="0" err="1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616548" y="1233781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 dirty="0"/>
            </a:p>
            <a:p>
              <a:pPr algn="l">
                <a:lnSpc>
                  <a:spcPts val="5039"/>
                </a:lnSpc>
              </a:pPr>
              <a:endParaRPr dirty="0"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Python provides special statements to control execution :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break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break statement helps to exit the loop immediately.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Example of break statement 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for </a:t>
              </a:r>
              <a:r>
                <a:rPr lang="en-US" sz="3599" dirty="0" err="1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in range(1, 10):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if </a:t>
              </a:r>
              <a:r>
                <a:rPr lang="en-US" sz="3599" dirty="0" err="1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== 5: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    break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print(</a:t>
              </a:r>
              <a:r>
                <a:rPr lang="en-US" sz="3599" dirty="0" err="1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)</a:t>
              </a:r>
            </a:p>
            <a:p>
              <a:pPr algn="l">
                <a:lnSpc>
                  <a:spcPts val="5039"/>
                </a:lnSpc>
              </a:pPr>
              <a:endParaRPr lang="en-US" sz="3599" dirty="0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062214" y="1648125"/>
            <a:ext cx="10163573" cy="111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000" b="1" dirty="0">
                <a:solidFill>
                  <a:srgbClr val="FF7D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Loop Control Statements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292166" y="1485680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1813745" y="1317972"/>
            <a:ext cx="15054905" cy="7426140"/>
            <a:chOff x="0" y="0"/>
            <a:chExt cx="3965078" cy="19558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65078" cy="1955856"/>
            </a:xfrm>
            <a:custGeom>
              <a:avLst/>
              <a:gdLst/>
              <a:ahLst/>
              <a:cxnLst/>
              <a:rect l="l" t="t" r="r" b="b"/>
              <a:pathLst>
                <a:path w="3965078" h="1955856">
                  <a:moveTo>
                    <a:pt x="0" y="0"/>
                  </a:moveTo>
                  <a:lnTo>
                    <a:pt x="3965078" y="0"/>
                  </a:lnTo>
                  <a:lnTo>
                    <a:pt x="3965078" y="1955856"/>
                  </a:lnTo>
                  <a:lnTo>
                    <a:pt x="0" y="195585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65078" cy="2022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continue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Continue helps to skip the current iteration and move to the next.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Example of continue statement: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for </a:t>
              </a:r>
              <a:r>
                <a:rPr lang="en-US" sz="3599" dirty="0" err="1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in range(1, 6):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if </a:t>
              </a:r>
              <a:r>
                <a:rPr lang="en-US" sz="3599" dirty="0" err="1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== 3: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    continue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print(</a:t>
              </a:r>
              <a:r>
                <a:rPr lang="en-US" sz="3599" dirty="0" err="1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)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pass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: It does nothing, acts as a placeholder.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 b="1" dirty="0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Example of pass statement: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for </a:t>
              </a:r>
              <a:r>
                <a:rPr lang="en-US" sz="3599" dirty="0" err="1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i</a:t>
              </a: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in range(3):</a:t>
              </a:r>
            </a:p>
            <a:p>
              <a:pPr algn="l">
                <a:lnSpc>
                  <a:spcPts val="5039"/>
                </a:lnSpc>
              </a:pPr>
              <a:r>
                <a:rPr lang="en-US" sz="3599" dirty="0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         pass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44F3D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05720" y="1170762"/>
            <a:ext cx="15876560" cy="7945476"/>
            <a:chOff x="0" y="0"/>
            <a:chExt cx="4181481" cy="20926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81481" cy="2092636"/>
            </a:xfrm>
            <a:custGeom>
              <a:avLst/>
              <a:gdLst/>
              <a:ahLst/>
              <a:cxnLst/>
              <a:rect l="l" t="t" r="r" b="b"/>
              <a:pathLst>
                <a:path w="4181481" h="2092636">
                  <a:moveTo>
                    <a:pt x="0" y="0"/>
                  </a:moveTo>
                  <a:lnTo>
                    <a:pt x="4181481" y="0"/>
                  </a:lnTo>
                  <a:lnTo>
                    <a:pt x="4181481" y="2092636"/>
                  </a:lnTo>
                  <a:lnTo>
                    <a:pt x="0" y="209263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CE9A"/>
              </a:solidFill>
              <a:prstDash val="lg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181481" cy="2159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039"/>
                </a:lnSpc>
              </a:pPr>
              <a:endParaRPr/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Python is a simple, interpreted, high-level language.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Programs use tokens, variables, and built-in data types.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Expressions and statements form the building blocks of programs.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Flow control &amp; looping decide execution order.</a:t>
              </a:r>
            </a:p>
            <a:p>
              <a:pPr marL="777230" lvl="1" indent="-388615" algn="l">
                <a:lnSpc>
                  <a:spcPts val="5039"/>
                </a:lnSpc>
                <a:buFont typeface="Arial"/>
                <a:buChar char="•"/>
              </a:pPr>
              <a:r>
                <a:rPr lang="en-US" sz="3599">
                  <a:solidFill>
                    <a:srgbClr val="000000"/>
                  </a:solidFill>
                  <a:latin typeface="Muli"/>
                  <a:ea typeface="Muli"/>
                  <a:cs typeface="Muli"/>
                  <a:sym typeface="Muli"/>
                </a:rPr>
                <a:t>Type casting &amp; math library extend Python’s power.</a:t>
              </a:r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6143268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10801252" y="0"/>
                </a:moveTo>
                <a:lnTo>
                  <a:pt x="0" y="0"/>
                </a:lnTo>
                <a:lnTo>
                  <a:pt x="0" y="5756167"/>
                </a:lnTo>
                <a:lnTo>
                  <a:pt x="10801252" y="5756167"/>
                </a:lnTo>
                <a:lnTo>
                  <a:pt x="1080125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292166" y="1438055"/>
            <a:ext cx="1312631" cy="837697"/>
          </a:xfrm>
          <a:custGeom>
            <a:avLst/>
            <a:gdLst/>
            <a:ahLst/>
            <a:cxnLst/>
            <a:rect l="l" t="t" r="r" b="b"/>
            <a:pathLst>
              <a:path w="1312631" h="837697">
                <a:moveTo>
                  <a:pt x="1312631" y="0"/>
                </a:moveTo>
                <a:lnTo>
                  <a:pt x="0" y="0"/>
                </a:lnTo>
                <a:lnTo>
                  <a:pt x="0" y="837697"/>
                </a:lnTo>
                <a:lnTo>
                  <a:pt x="1312631" y="837697"/>
                </a:lnTo>
                <a:lnTo>
                  <a:pt x="131263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604797" y="308481"/>
            <a:ext cx="1581824" cy="1009491"/>
          </a:xfrm>
          <a:custGeom>
            <a:avLst/>
            <a:gdLst/>
            <a:ahLst/>
            <a:cxnLst/>
            <a:rect l="l" t="t" r="r" b="b"/>
            <a:pathLst>
              <a:path w="1581824" h="1009491">
                <a:moveTo>
                  <a:pt x="0" y="0"/>
                </a:moveTo>
                <a:lnTo>
                  <a:pt x="1581824" y="0"/>
                </a:lnTo>
                <a:lnTo>
                  <a:pt x="1581824" y="1009491"/>
                </a:lnTo>
                <a:lnTo>
                  <a:pt x="0" y="1009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16143268" y="7552514"/>
            <a:ext cx="1793964" cy="1144875"/>
          </a:xfrm>
          <a:custGeom>
            <a:avLst/>
            <a:gdLst/>
            <a:ahLst/>
            <a:cxnLst/>
            <a:rect l="l" t="t" r="r" b="b"/>
            <a:pathLst>
              <a:path w="1793964" h="1144875">
                <a:moveTo>
                  <a:pt x="0" y="0"/>
                </a:moveTo>
                <a:lnTo>
                  <a:pt x="1793964" y="0"/>
                </a:lnTo>
                <a:lnTo>
                  <a:pt x="1793964" y="1144875"/>
                </a:lnTo>
                <a:lnTo>
                  <a:pt x="0" y="11448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-8656520" y="-3984217"/>
            <a:ext cx="10801253" cy="5756168"/>
          </a:xfrm>
          <a:custGeom>
            <a:avLst/>
            <a:gdLst/>
            <a:ahLst/>
            <a:cxnLst/>
            <a:rect l="l" t="t" r="r" b="b"/>
            <a:pathLst>
              <a:path w="10801253" h="5756168">
                <a:moveTo>
                  <a:pt x="0" y="0"/>
                </a:moveTo>
                <a:lnTo>
                  <a:pt x="10801252" y="0"/>
                </a:lnTo>
                <a:lnTo>
                  <a:pt x="10801252" y="5756167"/>
                </a:lnTo>
                <a:lnTo>
                  <a:pt x="0" y="57561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2469220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0" y="0"/>
                </a:moveTo>
                <a:lnTo>
                  <a:pt x="5496517" y="0"/>
                </a:lnTo>
                <a:lnTo>
                  <a:pt x="5496517" y="2970409"/>
                </a:lnTo>
                <a:lnTo>
                  <a:pt x="0" y="29704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15260703" y="7641371"/>
            <a:ext cx="5496517" cy="2970409"/>
          </a:xfrm>
          <a:custGeom>
            <a:avLst/>
            <a:gdLst/>
            <a:ahLst/>
            <a:cxnLst/>
            <a:rect l="l" t="t" r="r" b="b"/>
            <a:pathLst>
              <a:path w="5496517" h="2970409">
                <a:moveTo>
                  <a:pt x="5496517" y="0"/>
                </a:moveTo>
                <a:lnTo>
                  <a:pt x="0" y="0"/>
                </a:lnTo>
                <a:lnTo>
                  <a:pt x="0" y="2970409"/>
                </a:lnTo>
                <a:lnTo>
                  <a:pt x="5496517" y="2970409"/>
                </a:lnTo>
                <a:lnTo>
                  <a:pt x="549651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4180238" y="2105612"/>
            <a:ext cx="9927524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50"/>
              </a:lnSpc>
            </a:pPr>
            <a:r>
              <a:rPr lang="en-US" sz="7500" spc="420" dirty="0">
                <a:solidFill>
                  <a:schemeClr val="accent2">
                    <a:lumMod val="75000"/>
                  </a:schemeClr>
                </a:solidFill>
                <a:latin typeface="Wedges"/>
                <a:ea typeface="Wedges"/>
                <a:cs typeface="Wedges"/>
                <a:sym typeface="Wedges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2306</Words>
  <Application>Microsoft Office PowerPoint</Application>
  <PresentationFormat>Custom</PresentationFormat>
  <Paragraphs>288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Muli</vt:lpstr>
      <vt:lpstr>Wedges</vt:lpstr>
      <vt:lpstr>Jella</vt:lpstr>
      <vt:lpstr>Canva Sans Bold</vt:lpstr>
      <vt:lpstr>Calibri</vt:lpstr>
      <vt:lpstr>Arial</vt:lpstr>
      <vt:lpstr>Muli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revision tour</dc:title>
  <cp:lastModifiedBy>DHIRENDRA TIWARI</cp:lastModifiedBy>
  <cp:revision>3</cp:revision>
  <dcterms:created xsi:type="dcterms:W3CDTF">2006-08-16T00:00:00Z</dcterms:created>
  <dcterms:modified xsi:type="dcterms:W3CDTF">2025-09-10T16:22:16Z</dcterms:modified>
  <dc:identifier>DAGxDEG7IkI</dc:identifier>
</cp:coreProperties>
</file>