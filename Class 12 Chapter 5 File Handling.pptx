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18288000" cy="10287000"/>
  <p:notesSz cx="6858000" cy="9144000"/>
  <p:embeddedFontLst>
    <p:embeddedFont>
      <p:font typeface="Canva Sans" panose="020B0604020202020204" charset="0"/>
      <p:regular r:id="rId75"/>
    </p:embeddedFont>
    <p:embeddedFont>
      <p:font typeface="Canva Sans Bold" panose="020B0604020202020204" charset="0"/>
      <p:regular r:id="rId76"/>
    </p:embeddedFont>
    <p:embeddedFont>
      <p:font typeface="Retropix" panose="020B0604020202020204" charset="0"/>
      <p:regular r:id="rId7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pixelated trash can icon"/>
          <p:cNvSpPr/>
          <p:nvPr/>
        </p:nvSpPr>
        <p:spPr>
          <a:xfrm>
            <a:off x="633368" y="3626446"/>
            <a:ext cx="782400" cy="1057297"/>
          </a:xfrm>
          <a:custGeom>
            <a:avLst/>
            <a:gdLst/>
            <a:ahLst/>
            <a:cxnLst/>
            <a:rect l="l" t="t" r="r" b="b"/>
            <a:pathLst>
              <a:path w="782400" h="1057297">
                <a:moveTo>
                  <a:pt x="0" y="0"/>
                </a:moveTo>
                <a:lnTo>
                  <a:pt x="782400" y="0"/>
                </a:lnTo>
                <a:lnTo>
                  <a:pt x="782400" y="1057296"/>
                </a:lnTo>
                <a:lnTo>
                  <a:pt x="0" y="1057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 descr="a yellow folder icon"/>
          <p:cNvSpPr/>
          <p:nvPr/>
        </p:nvSpPr>
        <p:spPr>
          <a:xfrm>
            <a:off x="511249" y="2300667"/>
            <a:ext cx="1026639" cy="785846"/>
          </a:xfrm>
          <a:custGeom>
            <a:avLst/>
            <a:gdLst/>
            <a:ahLst/>
            <a:cxnLst/>
            <a:rect l="l" t="t" r="r" b="b"/>
            <a:pathLst>
              <a:path w="1026639" h="785846">
                <a:moveTo>
                  <a:pt x="0" y="0"/>
                </a:moveTo>
                <a:lnTo>
                  <a:pt x="1026639" y="0"/>
                </a:lnTo>
                <a:lnTo>
                  <a:pt x="1026639" y="785845"/>
                </a:lnTo>
                <a:lnTo>
                  <a:pt x="0" y="78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 descr="an old computer with the word hi on it"/>
          <p:cNvSpPr/>
          <p:nvPr/>
        </p:nvSpPr>
        <p:spPr>
          <a:xfrm>
            <a:off x="543623" y="538933"/>
            <a:ext cx="961890" cy="1221800"/>
          </a:xfrm>
          <a:custGeom>
            <a:avLst/>
            <a:gdLst/>
            <a:ahLst/>
            <a:cxnLst/>
            <a:rect l="l" t="t" r="r" b="b"/>
            <a:pathLst>
              <a:path w="961890" h="1221800">
                <a:moveTo>
                  <a:pt x="0" y="0"/>
                </a:moveTo>
                <a:lnTo>
                  <a:pt x="961890" y="0"/>
                </a:lnTo>
                <a:lnTo>
                  <a:pt x="961890" y="1221801"/>
                </a:lnTo>
                <a:lnTo>
                  <a:pt x="0" y="1221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 descr="a pixel image of a disk with a music note on it"/>
          <p:cNvSpPr/>
          <p:nvPr/>
        </p:nvSpPr>
        <p:spPr>
          <a:xfrm>
            <a:off x="559442" y="5223676"/>
            <a:ext cx="930253" cy="980151"/>
          </a:xfrm>
          <a:custGeom>
            <a:avLst/>
            <a:gdLst/>
            <a:ahLst/>
            <a:cxnLst/>
            <a:rect l="l" t="t" r="r" b="b"/>
            <a:pathLst>
              <a:path w="930253" h="980151">
                <a:moveTo>
                  <a:pt x="0" y="0"/>
                </a:moveTo>
                <a:lnTo>
                  <a:pt x="930253" y="0"/>
                </a:lnTo>
                <a:lnTo>
                  <a:pt x="930253" y="980151"/>
                </a:lnTo>
                <a:lnTo>
                  <a:pt x="0" y="980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 descr="an image of a floppy disk"/>
          <p:cNvSpPr/>
          <p:nvPr/>
        </p:nvSpPr>
        <p:spPr>
          <a:xfrm>
            <a:off x="16802844" y="538933"/>
            <a:ext cx="779562" cy="779562"/>
          </a:xfrm>
          <a:custGeom>
            <a:avLst/>
            <a:gdLst/>
            <a:ahLst/>
            <a:cxnLst/>
            <a:rect l="l" t="t" r="r" b="b"/>
            <a:pathLst>
              <a:path w="779562" h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 descr="a yellow triangle with an exclamation mark on it"/>
          <p:cNvSpPr/>
          <p:nvPr/>
        </p:nvSpPr>
        <p:spPr>
          <a:xfrm>
            <a:off x="16788145" y="1764975"/>
            <a:ext cx="779562" cy="779562"/>
          </a:xfrm>
          <a:custGeom>
            <a:avLst/>
            <a:gdLst/>
            <a:ahLst/>
            <a:cxnLst/>
            <a:rect l="l" t="t" r="r" b="b"/>
            <a:pathLst>
              <a:path w="779562" h="779562">
                <a:moveTo>
                  <a:pt x="0" y="0"/>
                </a:moveTo>
                <a:lnTo>
                  <a:pt x="779562" y="0"/>
                </a:lnTo>
                <a:lnTo>
                  <a:pt x="779562" y="779562"/>
                </a:lnTo>
                <a:lnTo>
                  <a:pt x="0" y="779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60564" y="2162636"/>
            <a:ext cx="11366873" cy="363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12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Chapter 5</a:t>
            </a:r>
          </a:p>
          <a:p>
            <a:pPr algn="ctr">
              <a:lnSpc>
                <a:spcPts val="12999"/>
              </a:lnSpc>
            </a:pPr>
            <a:r>
              <a:rPr lang="en-US" sz="12999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File Handling</a:t>
            </a:r>
          </a:p>
        </p:txBody>
      </p:sp>
      <p:sp>
        <p:nvSpPr>
          <p:cNvPr id="9" name="Freeform 9" descr="cursor"/>
          <p:cNvSpPr/>
          <p:nvPr/>
        </p:nvSpPr>
        <p:spPr>
          <a:xfrm>
            <a:off x="13004220" y="5206486"/>
            <a:ext cx="484735" cy="825401"/>
          </a:xfrm>
          <a:custGeom>
            <a:avLst/>
            <a:gdLst/>
            <a:ahLst/>
            <a:cxnLst/>
            <a:rect l="l" t="t" r="r" b="b"/>
            <a:pathLst>
              <a:path w="484735" h="825401">
                <a:moveTo>
                  <a:pt x="0" y="0"/>
                </a:moveTo>
                <a:lnTo>
                  <a:pt x="484736" y="0"/>
                </a:lnTo>
                <a:lnTo>
                  <a:pt x="484736" y="825401"/>
                </a:lnTo>
                <a:lnTo>
                  <a:pt x="0" y="825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0" y="9052698"/>
            <a:ext cx="18288000" cy="1234302"/>
            <a:chOff x="0" y="0"/>
            <a:chExt cx="24384000" cy="164573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24384000" cy="1645736"/>
              <a:chOff x="0" y="0"/>
              <a:chExt cx="4816593" cy="32508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6592" cy="325084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325084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325084"/>
                    </a:lnTo>
                    <a:lnTo>
                      <a:pt x="0" y="325084"/>
                    </a:lnTo>
                    <a:close/>
                  </a:path>
                </a:pathLst>
              </a:custGeom>
              <a:solidFill>
                <a:srgbClr val="CCCCCC"/>
              </a:solidFill>
              <a:ln w="95250" cap="sq">
                <a:solidFill>
                  <a:srgbClr val="CCCCCC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816593" cy="363184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16552" y="286517"/>
              <a:ext cx="1072702" cy="1072702"/>
            </a:xfrm>
            <a:custGeom>
              <a:avLst/>
              <a:gdLst/>
              <a:ahLst/>
              <a:cxnLst/>
              <a:rect l="l" t="t" r="r" b="b"/>
              <a:pathLst>
                <a:path w="1072702" h="1072702">
                  <a:moveTo>
                    <a:pt x="0" y="0"/>
                  </a:moveTo>
                  <a:lnTo>
                    <a:pt x="1072702" y="0"/>
                  </a:lnTo>
                  <a:lnTo>
                    <a:pt x="1072702" y="1072702"/>
                  </a:lnTo>
                  <a:lnTo>
                    <a:pt x="0" y="1072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474997" y="436533"/>
              <a:ext cx="755811" cy="772669"/>
            </a:xfrm>
            <a:custGeom>
              <a:avLst/>
              <a:gdLst/>
              <a:ahLst/>
              <a:cxnLst/>
              <a:rect l="l" t="t" r="r" b="b"/>
              <a:pathLst>
                <a:path w="755811" h="772669">
                  <a:moveTo>
                    <a:pt x="0" y="0"/>
                  </a:moveTo>
                  <a:lnTo>
                    <a:pt x="755812" y="0"/>
                  </a:lnTo>
                  <a:lnTo>
                    <a:pt x="755812" y="772670"/>
                  </a:lnTo>
                  <a:lnTo>
                    <a:pt x="0" y="772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97443" y="318086"/>
              <a:ext cx="1076085" cy="1009564"/>
            </a:xfrm>
            <a:custGeom>
              <a:avLst/>
              <a:gdLst/>
              <a:ahLst/>
              <a:cxnLst/>
              <a:rect l="l" t="t" r="r" b="b"/>
              <a:pathLst>
                <a:path w="1076085" h="1009564">
                  <a:moveTo>
                    <a:pt x="0" y="0"/>
                  </a:moveTo>
                  <a:lnTo>
                    <a:pt x="1076085" y="0"/>
                  </a:lnTo>
                  <a:lnTo>
                    <a:pt x="1076085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3194335" y="366127"/>
              <a:ext cx="883585" cy="913481"/>
            </a:xfrm>
            <a:custGeom>
              <a:avLst/>
              <a:gdLst/>
              <a:ahLst/>
              <a:cxnLst/>
              <a:rect l="l" t="t" r="r" b="b"/>
              <a:pathLst>
                <a:path w="883585" h="913481">
                  <a:moveTo>
                    <a:pt x="0" y="0"/>
                  </a:moveTo>
                  <a:lnTo>
                    <a:pt x="883585" y="0"/>
                  </a:lnTo>
                  <a:lnTo>
                    <a:pt x="883585" y="913481"/>
                  </a:lnTo>
                  <a:lnTo>
                    <a:pt x="0" y="913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5416372" y="377368"/>
              <a:ext cx="890999" cy="890999"/>
            </a:xfrm>
            <a:custGeom>
              <a:avLst/>
              <a:gdLst/>
              <a:ahLst/>
              <a:cxnLst/>
              <a:rect l="l" t="t" r="r" b="b"/>
              <a:pathLst>
                <a:path w="890999" h="890999">
                  <a:moveTo>
                    <a:pt x="0" y="0"/>
                  </a:moveTo>
                  <a:lnTo>
                    <a:pt x="890999" y="0"/>
                  </a:lnTo>
                  <a:lnTo>
                    <a:pt x="890999" y="890999"/>
                  </a:lnTo>
                  <a:lnTo>
                    <a:pt x="0" y="89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4298727" y="342107"/>
              <a:ext cx="896838" cy="961522"/>
            </a:xfrm>
            <a:custGeom>
              <a:avLst/>
              <a:gdLst/>
              <a:ahLst/>
              <a:cxnLst/>
              <a:rect l="l" t="t" r="r" b="b"/>
              <a:pathLst>
                <a:path w="896838" h="961522">
                  <a:moveTo>
                    <a:pt x="0" y="0"/>
                  </a:moveTo>
                  <a:lnTo>
                    <a:pt x="896838" y="0"/>
                  </a:lnTo>
                  <a:lnTo>
                    <a:pt x="896838" y="961522"/>
                  </a:lnTo>
                  <a:lnTo>
                    <a:pt x="0" y="96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6502778" y="318086"/>
              <a:ext cx="1207087" cy="1009564"/>
            </a:xfrm>
            <a:custGeom>
              <a:avLst/>
              <a:gdLst/>
              <a:ahLst/>
              <a:cxnLst/>
              <a:rect l="l" t="t" r="r" b="b"/>
              <a:pathLst>
                <a:path w="1207087" h="1009564">
                  <a:moveTo>
                    <a:pt x="0" y="0"/>
                  </a:moveTo>
                  <a:lnTo>
                    <a:pt x="1207088" y="0"/>
                  </a:lnTo>
                  <a:lnTo>
                    <a:pt x="1207088" y="1009564"/>
                  </a:lnTo>
                  <a:lnTo>
                    <a:pt x="0" y="100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22163171" y="429379"/>
              <a:ext cx="1562297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Retropix"/>
                  <a:ea typeface="Retropix"/>
                  <a:cs typeface="Retropix"/>
                  <a:sym typeface="Retropix"/>
                </a:rPr>
                <a:t>11:11PM</a:t>
              </a:r>
            </a:p>
          </p:txBody>
        </p:sp>
      </p:grpSp>
      <p:sp>
        <p:nvSpPr>
          <p:cNvPr id="22" name="Freeform 22" descr="a pixel x mark"/>
          <p:cNvSpPr/>
          <p:nvPr/>
        </p:nvSpPr>
        <p:spPr>
          <a:xfrm>
            <a:off x="16773447" y="2991016"/>
            <a:ext cx="808959" cy="782484"/>
          </a:xfrm>
          <a:custGeom>
            <a:avLst/>
            <a:gdLst/>
            <a:ahLst/>
            <a:cxnLst/>
            <a:rect l="l" t="t" r="r" b="b"/>
            <a:pathLst>
              <a:path w="808959" h="782484">
                <a:moveTo>
                  <a:pt x="0" y="0"/>
                </a:moveTo>
                <a:lnTo>
                  <a:pt x="808959" y="0"/>
                </a:lnTo>
                <a:lnTo>
                  <a:pt x="808959" y="782484"/>
                </a:lnTo>
                <a:lnTo>
                  <a:pt x="0" y="782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7364" y="857250"/>
            <a:ext cx="4929436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87014"/>
            <a:ext cx="16230600" cy="55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and Closing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Text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Input, Output and Error Streams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Binary Files</a:t>
            </a:r>
          </a:p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CSV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89936" y="885825"/>
            <a:ext cx="6487864" cy="1203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90456"/>
            <a:ext cx="16230600" cy="752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programming, data stored in memory (RAM) is temporary and gets lost when a program ends.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store data permanently, we use files on secondary storage devices.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 handling in Python refers to the process of creating, reading, writing, appending, and managing data stored in files on secondary storage devices like hard disks.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helps in managing large amounts of data efficiently and securely.</a:t>
            </a:r>
          </a:p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chapter explains file concepts and basic file operations in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5271" y="876300"/>
            <a:ext cx="5565329" cy="129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24442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data file is used to store data permanently on a storage device so that it can be accessed later. In Python, data files are mainly classified into 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 Files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Binary Files.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File</a:t>
            </a: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Text files store data in the form of human-readable characters. The contents of a text file can be easily read and edited using a simple text editor such as Notepad. These files usually have extensions like .txt, .csv, or .log.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0603" y="444500"/>
            <a:ext cx="16230600" cy="957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 files are further divided into the following types:</a:t>
            </a:r>
          </a:p>
          <a:p>
            <a:pPr marL="1684014" lvl="2" indent="-561338" algn="l">
              <a:lnSpc>
                <a:spcPts val="5459"/>
              </a:lnSpc>
              <a:buFont typeface="Arial"/>
              <a:buChar char="⚬"/>
            </a:pP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a) </a:t>
            </a:r>
            <a:r>
              <a:rPr lang="en-US" sz="38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Regular Text Files</a:t>
            </a: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Regular text files store data as plain text, where information is written in a simple readable format. Each line generally contains one piece of information or a complete record. These files are easy to create and understand but are not suitable for storing complex data structures. These files have .txt file extention.</a:t>
            </a:r>
          </a:p>
          <a:p>
            <a:pPr algn="l">
              <a:lnSpc>
                <a:spcPts val="5459"/>
              </a:lnSpc>
            </a:pPr>
            <a:endParaRPr lang="en-US" sz="38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684014" lvl="2" indent="-561338" algn="l">
              <a:lnSpc>
                <a:spcPts val="5459"/>
              </a:lnSpc>
              <a:buFont typeface="Arial"/>
              <a:buChar char="⚬"/>
            </a:pPr>
            <a:r>
              <a:rPr lang="en-US" sz="38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Delimited Text Files</a:t>
            </a:r>
            <a:r>
              <a:rPr lang="en-US" sz="3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Delimited text files store data in which different fields are separated by a special character called a delimiter. Common delimiters include comma (,), tab (\t), and semicolon (;). Each line usually represents one record, making these files suitable for tabular data. These file have file extention like 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Binary Files</a:t>
            </a: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 Binary files store data in binary (0s and 1s) format. These files are not human-readable and require a specific program to interpret the data. Binary files can store complex data such as images, audio, video, or Python objects using modules like pickle.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Binary files are more efficient in terms of storage and processing speed but cannot be edited using a text editor.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Examples of binary files: .dat, .bin, .jpg, .mp3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587085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a Binary File Faster than a Text File? (2018, 2022)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74623"/>
            <a:ext cx="162306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binary file stores data in 0s and 1s and is not human-readable. It is faster than a text file because data is stored in raw form without conversion, occupies less space, and allows faster read and write operations.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60575C-1ECE-5AD7-0C9A-6F708E84A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286587"/>
              </p:ext>
            </p:extLst>
          </p:nvPr>
        </p:nvGraphicFramePr>
        <p:xfrm>
          <a:off x="1447800" y="4381500"/>
          <a:ext cx="15811500" cy="4962521"/>
        </p:xfrm>
        <a:graphic>
          <a:graphicData uri="http://schemas.openxmlformats.org/drawingml/2006/table">
            <a:tbl>
              <a:tblPr/>
              <a:tblGrid>
                <a:gridCol w="7008823">
                  <a:extLst>
                    <a:ext uri="{9D8B030D-6E8A-4147-A177-3AD203B41FA5}">
                      <a16:colId xmlns:a16="http://schemas.microsoft.com/office/drawing/2014/main" val="1744204309"/>
                    </a:ext>
                  </a:extLst>
                </a:gridCol>
                <a:gridCol w="8802677">
                  <a:extLst>
                    <a:ext uri="{9D8B030D-6E8A-4147-A177-3AD203B41FA5}">
                      <a16:colId xmlns:a16="http://schemas.microsoft.com/office/drawing/2014/main" val="170991476"/>
                    </a:ext>
                  </a:extLst>
                </a:gridCol>
              </a:tblGrid>
              <a:tr h="57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Reason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Explanation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064899"/>
                  </a:ext>
                </a:extLst>
              </a:tr>
              <a:tr h="1572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No conversion needed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Binary files store data in raw form. Text files need conversion (number → string while writing, string → number while reading).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963306"/>
                  </a:ext>
                </a:extLst>
              </a:tr>
              <a:tr h="107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Less storage space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Binary representation uses fewer bytes compared to text representation.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299906"/>
                  </a:ext>
                </a:extLst>
              </a:tr>
              <a:tr h="57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Direct memory access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Data can be read directly into memory structures.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130604"/>
                  </a:ext>
                </a:extLst>
              </a:tr>
              <a:tr h="57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Faster read/write operations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CPU processes binary data more efficiently.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95198"/>
                  </a:ext>
                </a:extLst>
              </a:tr>
              <a:tr h="578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Exact data storage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No loss of precision (important for floats, images, etc.).</a:t>
                      </a:r>
                    </a:p>
                  </a:txBody>
                  <a:tcPr marL="70054" marR="70054" marT="35027" marB="3502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4308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62025"/>
            <a:ext cx="15870850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Text File and Binary File (2016, 2018, 2020, 2023)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5035C7-DA5D-57DF-1928-9E00110AC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640844"/>
              </p:ext>
            </p:extLst>
          </p:nvPr>
        </p:nvGraphicFramePr>
        <p:xfrm>
          <a:off x="1028700" y="2324102"/>
          <a:ext cx="15870849" cy="7199032"/>
        </p:xfrm>
        <a:graphic>
          <a:graphicData uri="http://schemas.openxmlformats.org/drawingml/2006/table">
            <a:tbl>
              <a:tblPr/>
              <a:tblGrid>
                <a:gridCol w="5290283">
                  <a:extLst>
                    <a:ext uri="{9D8B030D-6E8A-4147-A177-3AD203B41FA5}">
                      <a16:colId xmlns:a16="http://schemas.microsoft.com/office/drawing/2014/main" val="3413882495"/>
                    </a:ext>
                  </a:extLst>
                </a:gridCol>
                <a:gridCol w="5290283">
                  <a:extLst>
                    <a:ext uri="{9D8B030D-6E8A-4147-A177-3AD203B41FA5}">
                      <a16:colId xmlns:a16="http://schemas.microsoft.com/office/drawing/2014/main" val="1192509526"/>
                    </a:ext>
                  </a:extLst>
                </a:gridCol>
                <a:gridCol w="5290283">
                  <a:extLst>
                    <a:ext uri="{9D8B030D-6E8A-4147-A177-3AD203B41FA5}">
                      <a16:colId xmlns:a16="http://schemas.microsoft.com/office/drawing/2014/main" val="2051617313"/>
                    </a:ext>
                  </a:extLst>
                </a:gridCol>
              </a:tblGrid>
              <a:tr h="47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Basis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Text File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Binary File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738306"/>
                  </a:ext>
                </a:extLst>
              </a:tr>
              <a:tr h="703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Data storage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Stores data as characters (letters, digits, symbols)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Stores data in binary form (0s and 1s)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63177"/>
                  </a:ext>
                </a:extLst>
              </a:tr>
              <a:tr h="47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Readability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Human-readable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Not human-readable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19865"/>
                  </a:ext>
                </a:extLst>
              </a:tr>
              <a:tr h="703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Data format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Data is stored as strings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Data is stored in raw memory format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16088"/>
                  </a:ext>
                </a:extLst>
              </a:tr>
              <a:tr h="47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Conversion needed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Yes (number ↔ string)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No conversion required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977654"/>
                  </a:ext>
                </a:extLst>
              </a:tr>
              <a:tr h="473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Speed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Slower due to conversion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Faster as no conversion is needed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267773"/>
                  </a:ext>
                </a:extLst>
              </a:tr>
              <a:tr h="47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File size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Larger in size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Smaller in size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590311"/>
                  </a:ext>
                </a:extLst>
              </a:tr>
              <a:tr h="703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Accuracy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May lose precision (e.g., floating values)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Stores exact data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927590"/>
                  </a:ext>
                </a:extLst>
              </a:tr>
              <a:tr h="1132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Editing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Can be edited using text editor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Cannot be edited using text editor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769734"/>
                  </a:ext>
                </a:extLst>
              </a:tr>
              <a:tr h="473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Portability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More portable across systems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Less portable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74939"/>
                  </a:ext>
                </a:extLst>
              </a:tr>
              <a:tr h="47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Examples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.txt, .csv, .py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.</a:t>
                      </a:r>
                      <a:r>
                        <a:rPr lang="en-IN" sz="2800" dirty="0" err="1">
                          <a:effectLst/>
                        </a:rPr>
                        <a:t>dat</a:t>
                      </a:r>
                      <a:r>
                        <a:rPr lang="en-IN" sz="2800" dirty="0">
                          <a:effectLst/>
                        </a:rPr>
                        <a:t>, .bin, .exe, .jpg</a:t>
                      </a:r>
                    </a:p>
                  </a:txBody>
                  <a:tcPr marL="51936" marR="51936" marT="25968" marB="259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03327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1034F72-EFFA-5DF2-FAF1-0B7652F28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9890" y="876300"/>
            <a:ext cx="12755910" cy="129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and Closing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5784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 File in Python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86177"/>
            <a:ext cx="16230600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work with a file, it must be opened using the built-in open() function.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 = open("filename", "mode")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 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open("data.txt",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Default mode is r (read mode)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964658" y="933450"/>
            <a:ext cx="7446541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Opening Modes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1F4B67-502C-0D3B-2F15-6A8A4C775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055959"/>
              </p:ext>
            </p:extLst>
          </p:nvPr>
        </p:nvGraphicFramePr>
        <p:xfrm>
          <a:off x="1752600" y="2487295"/>
          <a:ext cx="14859000" cy="5859086"/>
        </p:xfrm>
        <a:graphic>
          <a:graphicData uri="http://schemas.openxmlformats.org/drawingml/2006/table">
            <a:tbl>
              <a:tblPr/>
              <a:tblGrid>
                <a:gridCol w="5107781">
                  <a:extLst>
                    <a:ext uri="{9D8B030D-6E8A-4147-A177-3AD203B41FA5}">
                      <a16:colId xmlns:a16="http://schemas.microsoft.com/office/drawing/2014/main" val="3459525040"/>
                    </a:ext>
                  </a:extLst>
                </a:gridCol>
                <a:gridCol w="9751219">
                  <a:extLst>
                    <a:ext uri="{9D8B030D-6E8A-4147-A177-3AD203B41FA5}">
                      <a16:colId xmlns:a16="http://schemas.microsoft.com/office/drawing/2014/main" val="1060912231"/>
                    </a:ext>
                  </a:extLst>
                </a:gridCol>
              </a:tblGrid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effectLst/>
                        </a:rPr>
                        <a:t>Mode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effectLst/>
                        </a:rPr>
                        <a:t>Meaning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87100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r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Read (file must exist)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22331"/>
                  </a:ext>
                </a:extLst>
              </a:tr>
              <a:tr h="966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w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Write (creates new file / overwrites existing file)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35241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a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Append (adds data at end of file)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579626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r+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Read and write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025291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w+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Write and read (overwrites file)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047261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a+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Append and read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275472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rb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Read binary file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78277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wb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Write binary file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930590"/>
                  </a:ext>
                </a:extLst>
              </a:tr>
              <a:tr h="54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effectLst/>
                        </a:rPr>
                        <a:t>ab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Append binary file</a:t>
                      </a:r>
                    </a:p>
                  </a:txBody>
                  <a:tcPr marL="55991" marR="55991" marT="27996" marB="2799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79820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854261F-D580-B9CE-6A41-ADD3B0679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Closing a File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file operations are complete, the file should be closed to free system resources.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file_object.close()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open("data.txt", "r")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print(f.read())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f.close()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Using with automatically closes the file, even if an error occurs. No need to write close() explicitly.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with open("data.txt", "r") as f: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print(f.read())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58" y="904875"/>
            <a:ext cx="9846841" cy="1111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Text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47621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Reading from Text Files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21992"/>
            <a:ext cx="1623060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three main methods to read data from a text file: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read()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readline()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readlines()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691198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read() Method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528050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read() method reads the entire contents of the file and returns it as one string.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1225"/>
            <a:ext cx="16230600" cy="929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file_object.read()</a:t>
            </a:r>
          </a:p>
          <a:p>
            <a:pPr algn="l">
              <a:lnSpc>
                <a:spcPts val="4620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= f.read()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print(data)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  <a:p>
            <a:pPr algn="l">
              <a:lnSpc>
                <a:spcPts val="48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Reads whole file at once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 is a string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 pointer moves to the end of file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Suitable for small files</a:t>
            </a:r>
          </a:p>
          <a:p>
            <a:pPr algn="l">
              <a:lnSpc>
                <a:spcPts val="5599"/>
              </a:lnSpc>
            </a:pPr>
            <a:endParaRPr lang="en-US" sz="34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readline()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12652"/>
            <a:ext cx="162306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readline() method reads one line at a time from the file.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62412"/>
            <a:ext cx="730034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file_object.readline()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line1 = f.readline()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line2 = f.readline()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print(line1)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print(line2)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66706" y="5681812"/>
            <a:ext cx="8253291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Reads single line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Includes newline character (\n)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Useful for line-by-line processing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readlines()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38875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readlines() method reads all lines of the file and returns them as a list of strings.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file_object.readlines()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"r")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lines = f.readlines()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print(lines)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6364308"/>
            <a:ext cx="8588635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line becomes one list element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Newline character is included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Useful when working with lists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write() method is used to write a string into a text file.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file_object.write(string)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"w")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f.write("Python File Handling\n")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f.write("Writing to text files")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57875" y="4770755"/>
            <a:ext cx="7977679" cy="551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Writes only strings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Does not add newline automatically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Returns the number of characters written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Existing data is overwritten in w mode</a:t>
            </a:r>
          </a:p>
          <a:p>
            <a:pPr algn="ctr">
              <a:lnSpc>
                <a:spcPts val="475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writelines() Method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75764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writelines() method writes multiple strings to a file using a list or sequence of strings.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file_object.writelines(list_of_strings)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"w")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lines = ["Python\n", "File Handling"]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f.writelines(lines)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51658" y="5076825"/>
            <a:ext cx="6444088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Writes a list of strings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Does not insert newline automatically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Newline (\n) must be added manually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for writing multiple lines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write() and writelines()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32E1C4-FE3D-D900-21BD-4D24061A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29052"/>
              </p:ext>
            </p:extLst>
          </p:nvPr>
        </p:nvGraphicFramePr>
        <p:xfrm>
          <a:off x="1742884" y="2289173"/>
          <a:ext cx="14640116" cy="6588125"/>
        </p:xfrm>
        <a:graphic>
          <a:graphicData uri="http://schemas.openxmlformats.org/drawingml/2006/table">
            <a:tbl>
              <a:tblPr/>
              <a:tblGrid>
                <a:gridCol w="7320058">
                  <a:extLst>
                    <a:ext uri="{9D8B030D-6E8A-4147-A177-3AD203B41FA5}">
                      <a16:colId xmlns:a16="http://schemas.microsoft.com/office/drawing/2014/main" val="2912227629"/>
                    </a:ext>
                  </a:extLst>
                </a:gridCol>
                <a:gridCol w="7320058">
                  <a:extLst>
                    <a:ext uri="{9D8B030D-6E8A-4147-A177-3AD203B41FA5}">
                      <a16:colId xmlns:a16="http://schemas.microsoft.com/office/drawing/2014/main" val="142217049"/>
                    </a:ext>
                  </a:extLst>
                </a:gridCol>
              </a:tblGrid>
              <a:tr h="1317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write()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writelines()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253696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Writes a single string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Writes multiple strings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846615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one line at a time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Uses list/sequence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218487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Adds no newline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Adds no newline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2798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Common in small writes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Better for bulk data</a:t>
                      </a:r>
                    </a:p>
                  </a:txBody>
                  <a:tcPr marL="62869" marR="62869" marT="31435" marB="31435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11255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5683D28-1DC1-85DD-CE17-49CB981B3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to a Text File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75764"/>
            <a:ext cx="16230600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Appending means adding data at the end of an existing file without deleting old data.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is done using append mode (a).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Append Mode (a)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file_object = open("filename", "a")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 pointer is placed at the end of the file.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file does not exist, it is created automatically.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676389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Using write()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811530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"a")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f.write("\nThis line is appended.")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661852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Using writelines()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627052"/>
            <a:ext cx="1032968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"a")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= ["\nNew Line 1", "\nNew Line 2"]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f.writelines(data)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48736" y="942975"/>
            <a:ext cx="5880335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with Statement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1907319"/>
            <a:ext cx="8771679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open("sample.txt", "a") as f: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f.write("\nFile closed automatically")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 and Read Mode (a+)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7319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open("sample.txt", "a+")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f.write("\nAppending and reading")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f.seek(0)                                                          # move pointer to start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print(f.read())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 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happens if you don’t use seek() in a+ mode? 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a file is opened in a+ mode (append + read), the file pointer is placed at the end of the file. If seek() is not used in a+ mode, any read operation will return no output (empty string) because the file pointer is already at the end of the file.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write() and writelines()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1F47E2-5210-A71B-C67E-62223FCDB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331816"/>
              </p:ext>
            </p:extLst>
          </p:nvPr>
        </p:nvGraphicFramePr>
        <p:xfrm>
          <a:off x="1028700" y="2257426"/>
          <a:ext cx="15049500" cy="4714876"/>
        </p:xfrm>
        <a:graphic>
          <a:graphicData uri="http://schemas.openxmlformats.org/drawingml/2006/table">
            <a:tbl>
              <a:tblPr/>
              <a:tblGrid>
                <a:gridCol w="7524750">
                  <a:extLst>
                    <a:ext uri="{9D8B030D-6E8A-4147-A177-3AD203B41FA5}">
                      <a16:colId xmlns:a16="http://schemas.microsoft.com/office/drawing/2014/main" val="4211234273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1549254380"/>
                    </a:ext>
                  </a:extLst>
                </a:gridCol>
              </a:tblGrid>
              <a:tr h="1178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write()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writelines()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152135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800" b="0" i="0">
                          <a:solidFill>
                            <a:srgbClr val="000000"/>
                          </a:solidFill>
                          <a:effectLst/>
                        </a:rPr>
                        <a:t>Writes a </a:t>
                      </a:r>
                      <a:r>
                        <a:rPr lang="en-IN" sz="2800" b="1" i="0">
                          <a:solidFill>
                            <a:srgbClr val="000000"/>
                          </a:solidFill>
                          <a:effectLst/>
                        </a:rPr>
                        <a:t>single string</a:t>
                      </a:r>
                      <a:r>
                        <a:rPr lang="en-IN" sz="2800" b="0" i="0">
                          <a:solidFill>
                            <a:srgbClr val="000000"/>
                          </a:solidFill>
                          <a:effectLst/>
                        </a:rPr>
                        <a:t> to a file</a:t>
                      </a:r>
                      <a:endParaRPr lang="en-IN" sz="2800">
                        <a:effectLst/>
                      </a:endParaRP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800" b="0" i="0">
                          <a:solidFill>
                            <a:srgbClr val="000000"/>
                          </a:solidFill>
                          <a:effectLst/>
                        </a:rPr>
                        <a:t>Writes a </a:t>
                      </a:r>
                      <a:r>
                        <a:rPr lang="en-IN" sz="2800" b="1" i="0">
                          <a:solidFill>
                            <a:srgbClr val="000000"/>
                          </a:solidFill>
                          <a:effectLst/>
                        </a:rPr>
                        <a:t>list of strings</a:t>
                      </a:r>
                      <a:r>
                        <a:rPr lang="en-IN" sz="2800" b="0" i="0">
                          <a:solidFill>
                            <a:srgbClr val="000000"/>
                          </a:solidFill>
                          <a:effectLst/>
                        </a:rPr>
                        <a:t> to a file</a:t>
                      </a:r>
                      <a:endParaRPr lang="en-IN" sz="2800">
                        <a:effectLst/>
                      </a:endParaRP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22957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for writing one line at a time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Used for writing multiple lines together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497477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Returns number of characters written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Does not return any value</a:t>
                      </a:r>
                    </a:p>
                  </a:txBody>
                  <a:tcPr marL="91275" marR="91275" marT="45638" marB="456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5402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BE7280B-60FD-BEE4-7B84-166133D64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Write Mode (w) and Append Mode (a)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5BF769-C355-9E01-4243-F24B0A85D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4124"/>
              </p:ext>
            </p:extLst>
          </p:nvPr>
        </p:nvGraphicFramePr>
        <p:xfrm>
          <a:off x="1295400" y="2289173"/>
          <a:ext cx="14859000" cy="5140324"/>
        </p:xfrm>
        <a:graphic>
          <a:graphicData uri="http://schemas.openxmlformats.org/drawingml/2006/table">
            <a:tbl>
              <a:tblPr/>
              <a:tblGrid>
                <a:gridCol w="7429500">
                  <a:extLst>
                    <a:ext uri="{9D8B030D-6E8A-4147-A177-3AD203B41FA5}">
                      <a16:colId xmlns:a16="http://schemas.microsoft.com/office/drawing/2014/main" val="3685745587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492084030"/>
                    </a:ext>
                  </a:extLst>
                </a:gridCol>
              </a:tblGrid>
              <a:tr h="1285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 Mode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 Mode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00081"/>
                  </a:ext>
                </a:extLst>
              </a:tr>
              <a:tr h="1285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Overwrites existing file content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Adds data at the end of file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939492"/>
                  </a:ext>
                </a:extLst>
              </a:tr>
              <a:tr h="1285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Deletes old data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Preserves old data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055016"/>
                  </a:ext>
                </a:extLst>
              </a:tr>
              <a:tr h="1285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File pointer starts at beginning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File pointer starts at end</a:t>
                      </a:r>
                    </a:p>
                  </a:txBody>
                  <a:tcPr marL="78680" marR="78680" marT="39340" marB="393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39809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FBE03D4-8147-3B45-381C-A91868AB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Difference between Append (a) and Append-Read (a+)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9B7AF4-952A-9455-8874-06BABE23D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584452"/>
              </p:ext>
            </p:extLst>
          </p:nvPr>
        </p:nvGraphicFramePr>
        <p:xfrm>
          <a:off x="1287534" y="2476499"/>
          <a:ext cx="15247866" cy="5029200"/>
        </p:xfrm>
        <a:graphic>
          <a:graphicData uri="http://schemas.openxmlformats.org/drawingml/2006/table">
            <a:tbl>
              <a:tblPr/>
              <a:tblGrid>
                <a:gridCol w="7623933">
                  <a:extLst>
                    <a:ext uri="{9D8B030D-6E8A-4147-A177-3AD203B41FA5}">
                      <a16:colId xmlns:a16="http://schemas.microsoft.com/office/drawing/2014/main" val="2530147936"/>
                    </a:ext>
                  </a:extLst>
                </a:gridCol>
                <a:gridCol w="7623933">
                  <a:extLst>
                    <a:ext uri="{9D8B030D-6E8A-4147-A177-3AD203B41FA5}">
                      <a16:colId xmlns:a16="http://schemas.microsoft.com/office/drawing/2014/main" val="2192154202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 Mode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a+ Mode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90952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only for appending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for appending and reading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477478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File pointer at end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File pointer at end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784913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Cannot read file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Can read file after seek()</a:t>
                      </a:r>
                    </a:p>
                  </a:txBody>
                  <a:tcPr marL="72988" marR="72988" marT="36494" marB="36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14998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53E43C6-6B8F-3123-3B71-7316AB9EC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flush() Function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01986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flush() function is used to forcefully write (flush) any buffered data to the file immediately.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Normally, Python stores written data in a buffer and writes it to the file later.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flush() ensures that whatever is in the buffer is saved to the file right now. 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Definition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flush() function clears the file buffer by writing all buffered data to the file without closing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What is a Buffer (in File Handling)?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buffer is a temporary memory area (RAM) where data is stored before being written to a file.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you use write() or writelines(), Python does not write data directly to the file.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It first stores it in the buffer.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buffer is a temporary memory area that holds data before it is permanently written to a file.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032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 :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file_object.flush()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flush() Needed?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make sure data is saved immediately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Useful when: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Writing data continuously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 may terminate unexpectedly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is read by another program while still open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flush() does not close the file.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Removing Whitespaces After Reading from a File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44208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we read data from a text file, it often contains: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Leading spaces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Trailing spaces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Newline character \n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string methods to remove these whitespaces after reading.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strip() – Remove spaces from both sides 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Removes leading and trailing whitespaces, including \n.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string.strip()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73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lstrip() – Remove leading whitespaces only :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 :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string.lstrip()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rstrip() – Remove trailing whitespaces only :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 :</a:t>
            </a:r>
          </a:p>
          <a:p>
            <a:pPr marL="1727212" lvl="2" indent="-575737" algn="l">
              <a:lnSpc>
                <a:spcPts val="5600"/>
              </a:lnSpc>
              <a:buFont typeface="Arial"/>
              <a:buChar char="⚬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string.rstrip()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rstrip() used after readline()?   (2018, 2020, 2023)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readline() reads a line along with the newline character \n.</a:t>
            </a:r>
          </a:p>
          <a:p>
            <a:pPr marL="863606" lvl="1" indent="-431803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rstrip() is used to remove this trailing newline character.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Differentiate between strip(), lstrip() and rstrip(). (2018, 2021, 2024)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17D415-1DB6-96B4-7EF6-CE6A1FBDE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240992"/>
              </p:ext>
            </p:extLst>
          </p:nvPr>
        </p:nvGraphicFramePr>
        <p:xfrm>
          <a:off x="1028700" y="2803526"/>
          <a:ext cx="16230600" cy="4702172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1386742799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3518787762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1251832441"/>
                    </a:ext>
                  </a:extLst>
                </a:gridCol>
              </a:tblGrid>
              <a:tr h="1440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Method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What it removes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Position of whitespaces removed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234535"/>
                  </a:ext>
                </a:extLst>
              </a:tr>
              <a:tr h="1087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strip()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800" b="0" i="0" dirty="0">
                          <a:solidFill>
                            <a:srgbClr val="000000"/>
                          </a:solidFill>
                          <a:effectLst/>
                        </a:rPr>
                        <a:t>Leading </a:t>
                      </a:r>
                      <a:r>
                        <a:rPr lang="en-IN" sz="2800" b="1" i="0" dirty="0">
                          <a:solidFill>
                            <a:srgbClr val="000000"/>
                          </a:solidFill>
                          <a:effectLst/>
                        </a:rPr>
                        <a:t>and</a:t>
                      </a:r>
                      <a:r>
                        <a:rPr lang="en-IN" sz="2800" b="0" i="0" dirty="0">
                          <a:solidFill>
                            <a:srgbClr val="000000"/>
                          </a:solidFill>
                          <a:effectLst/>
                        </a:rPr>
                        <a:t> trailing whitespaces</a:t>
                      </a:r>
                      <a:endParaRPr lang="en-IN" sz="28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Both left and right sides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758195"/>
                  </a:ext>
                </a:extLst>
              </a:tr>
              <a:tr h="1087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lstrip()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Leading whitespaces only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Left side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356805"/>
                  </a:ext>
                </a:extLst>
              </a:tr>
              <a:tr h="1087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rstrip()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Trailing whitespaces only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Right side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8705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45997F5-B136-906D-10D1-F60D6BE0B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7325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040100" cy="688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Significance of File Pointer in File Handling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9699" y="1905635"/>
            <a:ext cx="17308601" cy="83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file pointer is a marker that shows the current position in a file from where data will be read or written next. Whenever a file is opened, the file pointer is automatically placed at the beginning of the file.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keeps track of the current location in the file.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helps in reading or writing data sequentially.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allows random access to different positions in a file using functions like seek()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prevents data from being read or written at the wrong location.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automatically updated after every read or write operation.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 Modes and Opening Position of File Pointer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D320A8-BF87-7198-40B4-94BA1D042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594113"/>
              </p:ext>
            </p:extLst>
          </p:nvPr>
        </p:nvGraphicFramePr>
        <p:xfrm>
          <a:off x="1028700" y="1866900"/>
          <a:ext cx="16040100" cy="7640449"/>
        </p:xfrm>
        <a:graphic>
          <a:graphicData uri="http://schemas.openxmlformats.org/drawingml/2006/table">
            <a:tbl>
              <a:tblPr/>
              <a:tblGrid>
                <a:gridCol w="3695700">
                  <a:extLst>
                    <a:ext uri="{9D8B030D-6E8A-4147-A177-3AD203B41FA5}">
                      <a16:colId xmlns:a16="http://schemas.microsoft.com/office/drawing/2014/main" val="1604495642"/>
                    </a:ext>
                  </a:extLst>
                </a:gridCol>
                <a:gridCol w="6997700">
                  <a:extLst>
                    <a:ext uri="{9D8B030D-6E8A-4147-A177-3AD203B41FA5}">
                      <a16:colId xmlns:a16="http://schemas.microsoft.com/office/drawing/2014/main" val="2848528804"/>
                    </a:ext>
                  </a:extLst>
                </a:gridCol>
                <a:gridCol w="5346700">
                  <a:extLst>
                    <a:ext uri="{9D8B030D-6E8A-4147-A177-3AD203B41FA5}">
                      <a16:colId xmlns:a16="http://schemas.microsoft.com/office/drawing/2014/main" val="2315274428"/>
                    </a:ext>
                  </a:extLst>
                </a:gridCol>
              </a:tblGrid>
              <a:tr h="569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File Mode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Purpose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Opening Position of File Pointer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371844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"r"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Opens a file for reading only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451189"/>
                  </a:ext>
                </a:extLst>
              </a:tr>
              <a:tr h="1389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"w"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file for writing; creates a new file or overwrites existing content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404465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"a"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file for appending data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End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314327"/>
                  </a:ext>
                </a:extLst>
              </a:tr>
              <a:tr h="944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"r+"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file for both reading and writing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07296"/>
                  </a:ext>
                </a:extLst>
              </a:tr>
              <a:tr h="944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"w+"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file for reading and writing; overwrites existing content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251687"/>
                  </a:ext>
                </a:extLst>
              </a:tr>
              <a:tr h="944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"a+"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file for reading and appending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End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29229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"rb"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binary file for reading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181184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"wb"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binary file for writing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Beginning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713820"/>
                  </a:ext>
                </a:extLst>
              </a:tr>
              <a:tr h="569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"ab"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Opens a binary file for appending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End of the file</a:t>
                      </a:r>
                    </a:p>
                  </a:txBody>
                  <a:tcPr marL="53404" marR="53404" marT="26702" marB="2670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88963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3732C4B-3B92-4EF5-5CB7-842395E52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152241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Input, Output and Error Streams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17165"/>
            <a:ext cx="162306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file handling, Python uses three standard streams to perform input, output, and error-related operations. These streams act as communication channels between the user, program, and files.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513E99-051D-403D-5491-E15F32876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059160"/>
              </p:ext>
            </p:extLst>
          </p:nvPr>
        </p:nvGraphicFramePr>
        <p:xfrm>
          <a:off x="1028700" y="4182934"/>
          <a:ext cx="16230600" cy="4313366"/>
        </p:xfrm>
        <a:graphic>
          <a:graphicData uri="http://schemas.openxmlformats.org/drawingml/2006/table">
            <a:tbl>
              <a:tblPr/>
              <a:tblGrid>
                <a:gridCol w="4057650">
                  <a:extLst>
                    <a:ext uri="{9D8B030D-6E8A-4147-A177-3AD203B41FA5}">
                      <a16:colId xmlns:a16="http://schemas.microsoft.com/office/drawing/2014/main" val="763088618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195780799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847245107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3142889581"/>
                    </a:ext>
                  </a:extLst>
                </a:gridCol>
              </a:tblGrid>
              <a:tr h="798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Stream 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Meaning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Purpose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Default Device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07339"/>
                  </a:ext>
                </a:extLst>
              </a:tr>
              <a:tr h="1171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stdin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Standard Input Stream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Takes input into the program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Keyboard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31416"/>
                  </a:ext>
                </a:extLst>
              </a:tr>
              <a:tr h="1171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stdout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Standard Output Stream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Displays normal output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Monitor/Screen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016665"/>
                  </a:ext>
                </a:extLst>
              </a:tr>
              <a:tr h="1171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stderr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Standard Error Stream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Displays error messages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Monitor/Screen</a:t>
                      </a:r>
                    </a:p>
                  </a:txBody>
                  <a:tcPr marL="90393" marR="90393" marT="45197" marB="4519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5644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F889794-B967-B483-11C5-EF6F79145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Input Stream (stdin)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24764"/>
            <a:ext cx="162306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for taking input from the user.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entered through the keyboard can later be stored in a file.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346457"/>
            <a:ext cx="16230600" cy="3508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endParaRPr/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 = input("Enter your name: ")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open("data.txt", "w")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f.write(name)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f.close()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428445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 is taken through stdin.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entered data is written into a file.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Output Stream (stdout)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40365"/>
            <a:ext cx="162306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to display output on the screen.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read from a file is usually displayed using stdout.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06605"/>
            <a:ext cx="16230600" cy="2803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open("data.txt", "r")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= f.read()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print(data)</a:t>
            </a:r>
          </a:p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f.close()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095891"/>
            <a:ext cx="16230600" cy="139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is read from the file.</a:t>
            </a: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print() sends the output to stdout (screen).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Error Stream (stderr)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20379"/>
            <a:ext cx="16230600" cy="118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179" lvl="1" indent="-367090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to display file-related error messages.</a:t>
            </a:r>
          </a:p>
          <a:p>
            <a:pPr marL="734179" lvl="1" indent="-367090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Helps identify problems during file operations.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1158" y="3781448"/>
            <a:ext cx="16230600" cy="58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 = open("abc.txt", "r")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1158" y="4942442"/>
            <a:ext cx="16643939" cy="238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Possible Output :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FileNotFoundError: [Errno 2] No such file or directory: 'abc.txt'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endParaRPr lang="en-US" sz="34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error message is displayed through stderr.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Absolute and Relative Paths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9118" y="2078765"/>
            <a:ext cx="16220182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path specifies the location of a file or folder in a computer system. In Python file handling, paths are used to open and access files.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Paths are mainly of two types: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Absolute Path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Relative Path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6173880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Absolute Path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9118" y="7068370"/>
            <a:ext cx="16220182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absolute path gives the complete location of a file starting from the root directory or drive.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contains the full path of the file.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does not depend on the current working directory.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3286244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Relative Path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154930"/>
            <a:ext cx="162306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relative path specifies the file location with respect to the current working directory.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does not start from the root directory.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shorter and easier to write.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depends on the current folder.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Relative paths are preferred in projects because: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Relative paths are shorter, easier to write, and make projects portable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Files can be moved easily from one system to another.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0790" y="962025"/>
            <a:ext cx="16209764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always points to the same location.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 major disadvantage is that absolute paths are long and may not work if the file location changes.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Absolute and Relative Path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B0893A-1E17-3631-9CB6-047536455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732482"/>
              </p:ext>
            </p:extLst>
          </p:nvPr>
        </p:nvGraphicFramePr>
        <p:xfrm>
          <a:off x="1039118" y="2289161"/>
          <a:ext cx="15343882" cy="5445140"/>
        </p:xfrm>
        <a:graphic>
          <a:graphicData uri="http://schemas.openxmlformats.org/drawingml/2006/table">
            <a:tbl>
              <a:tblPr/>
              <a:tblGrid>
                <a:gridCol w="7671941">
                  <a:extLst>
                    <a:ext uri="{9D8B030D-6E8A-4147-A177-3AD203B41FA5}">
                      <a16:colId xmlns:a16="http://schemas.microsoft.com/office/drawing/2014/main" val="852922207"/>
                    </a:ext>
                  </a:extLst>
                </a:gridCol>
                <a:gridCol w="7671941">
                  <a:extLst>
                    <a:ext uri="{9D8B030D-6E8A-4147-A177-3AD203B41FA5}">
                      <a16:colId xmlns:a16="http://schemas.microsoft.com/office/drawing/2014/main" val="2151984204"/>
                    </a:ext>
                  </a:extLst>
                </a:gridCol>
              </a:tblGrid>
              <a:tr h="108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Absolute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Relative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35148"/>
                  </a:ext>
                </a:extLst>
              </a:tr>
              <a:tr h="108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Gives complete file location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Gives location relative to current directory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474216"/>
                  </a:ext>
                </a:extLst>
              </a:tr>
              <a:tr h="108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Starts from root directory or drive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Starts from current folder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601400"/>
                  </a:ext>
                </a:extLst>
              </a:tr>
              <a:tr h="108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Independent of current working directory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Depends on current working directory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485098"/>
                  </a:ext>
                </a:extLst>
              </a:tr>
              <a:tr h="1089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Longer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Shorter path</a:t>
                      </a:r>
                    </a:p>
                  </a:txBody>
                  <a:tcPr marL="59031" marR="59031" marT="29516" marB="295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93289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F75AE19-7B79-629F-8DD0-489E03C70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Binary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6365"/>
            <a:ext cx="16230600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Binary files are used for storing complex objects because they can store data in the same internal format used by the computer (0s and 1s).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Unlike text files, binary files can directly store Python objects such as dictionaries, tuples, lists, and nested structures without converting them into strings, so that they are stored in a way that their structure/hierarchy is maintained.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Pickle Module in Python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29099"/>
            <a:ext cx="16230600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a built-in module called pickle to store and retrieve Python objects from binary files.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pickle module converts Python objects into a binary format before storing them in a file and converts them back into Python objects when reading from the file.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9118" y="5869429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Serialization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758416"/>
            <a:ext cx="162306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Serialization is the process of converting Python objects into binary format so that they can be stored in a binary file.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162306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done using: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pickle.dump()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pickle.dump(object, file)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62681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Unpickling (Deserialization)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563110"/>
            <a:ext cx="1623060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Unpickling is the process of converting binary data back into Python objects.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done using: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pickle.load()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pickle.load(file)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Creating/Opening/Closing Binary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24764"/>
            <a:ext cx="162306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Python, binary files are handled using binary modes such as "rb", "wb", and "ab".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91852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Creating a Binary 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9118" y="4876101"/>
            <a:ext cx="16230600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binary file is created using the open() function with write binary mode ("wb").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file_object = open("filename.dat", "wb")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open("student.dat", "wb")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print("Binary file created")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 the file already exists, its contents are overwritten.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42975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 Binary File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65675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Binary files can be opened in different modes depending on the operation.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448254"/>
            <a:ext cx="162306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for Reading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470604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file_object = open("filename.dat", "rb")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C05E33-E3A5-8370-A2D3-C8F8556C5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734910"/>
              </p:ext>
            </p:extLst>
          </p:nvPr>
        </p:nvGraphicFramePr>
        <p:xfrm>
          <a:off x="1905000" y="3039427"/>
          <a:ext cx="13792200" cy="2227680"/>
        </p:xfrm>
        <a:graphic>
          <a:graphicData uri="http://schemas.openxmlformats.org/drawingml/2006/table">
            <a:tbl>
              <a:tblPr/>
              <a:tblGrid>
                <a:gridCol w="4500272">
                  <a:extLst>
                    <a:ext uri="{9D8B030D-6E8A-4147-A177-3AD203B41FA5}">
                      <a16:colId xmlns:a16="http://schemas.microsoft.com/office/drawing/2014/main" val="3302799043"/>
                    </a:ext>
                  </a:extLst>
                </a:gridCol>
                <a:gridCol w="9291928">
                  <a:extLst>
                    <a:ext uri="{9D8B030D-6E8A-4147-A177-3AD203B41FA5}">
                      <a16:colId xmlns:a16="http://schemas.microsoft.com/office/drawing/2014/main" val="1757734336"/>
                    </a:ext>
                  </a:extLst>
                </a:gridCol>
              </a:tblGrid>
              <a:tr h="55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Mode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Purpose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503482"/>
                  </a:ext>
                </a:extLst>
              </a:tr>
              <a:tr h="55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"rb"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Read binary file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08928"/>
                  </a:ext>
                </a:extLst>
              </a:tr>
              <a:tr h="55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"</a:t>
                      </a:r>
                      <a:r>
                        <a:rPr lang="en-IN" sz="2800" dirty="0" err="1">
                          <a:effectLst/>
                        </a:rPr>
                        <a:t>wb</a:t>
                      </a:r>
                      <a:r>
                        <a:rPr lang="en-IN" sz="2800" dirty="0">
                          <a:effectLst/>
                        </a:rPr>
                        <a:t>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 binary file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830147"/>
                  </a:ext>
                </a:extLst>
              </a:tr>
              <a:tr h="556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"ab"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Append binary file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23927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71D5C740-BDF3-B68B-D1A2-E40CD85E4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59038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for Appending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18998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file_object = open("filename.dat", "ab")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282177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Closing a Binary 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361664"/>
            <a:ext cx="162306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completing file operations, the file should be closed using the close() method.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file_object.close()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Closing is important because 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Saves all changes permanently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Frees system resources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Prevents data corruption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Avoids memory wastage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Writing onto a Binary File – Pickling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80862"/>
            <a:ext cx="1623060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Writing data onto a binary file using the pickle module is called Pickling or Serialization.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this process, Python objects are converted into binary format and stored in a binary file.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pickle.dump(object, file)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51078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Appending Records in Binary Files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392439"/>
            <a:ext cx="16230600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Appending means adding new data at the end of an existing binary file without deleting the old contents.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Python, binary files are opened in append binary mode ("ab") for appending records.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uses the pickle module to append Python objects into binary files.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Reading from a Binary File – Unpickling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9118" y="1893964"/>
            <a:ext cx="16220182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Reading data from a binary file using the pickle module is called Unpickling or Deserialization.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this process, binary data stored in the file is converted back into the original Python object.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pickle.load(file)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pickle.load() Raises EOFError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71165"/>
            <a:ext cx="162306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reading multiple records from a binary file, pickle.load() keeps reading objects one by one.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At the end of the file, no more data is available, so pickle.load() raises an EOFError (End Of File Error).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handle this error safely, we use: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try-except block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statement along with try-except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70966"/>
            <a:ext cx="5387101" cy="5267466"/>
          </a:xfrm>
          <a:custGeom>
            <a:avLst/>
            <a:gdLst/>
            <a:ahLst/>
            <a:cxnLst/>
            <a:rect l="l" t="t" r="r" b="b"/>
            <a:pathLst>
              <a:path w="5387101" h="5267466">
                <a:moveTo>
                  <a:pt x="0" y="0"/>
                </a:moveTo>
                <a:lnTo>
                  <a:pt x="5387101" y="0"/>
                </a:lnTo>
                <a:lnTo>
                  <a:pt x="5387101" y="5267467"/>
                </a:lnTo>
                <a:lnTo>
                  <a:pt x="0" y="5267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5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try-except with pickle.load()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67019" y="2104291"/>
            <a:ext cx="7513880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pickle.load(f) reads one object at a time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all records are read, EOFError occurs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except EOFError handles the error and stops the program safely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985855"/>
            <a:ext cx="7079375" cy="5137939"/>
          </a:xfrm>
          <a:custGeom>
            <a:avLst/>
            <a:gdLst/>
            <a:ahLst/>
            <a:cxnLst/>
            <a:rect l="l" t="t" r="r" b="b"/>
            <a:pathLst>
              <a:path w="7079375" h="5137939">
                <a:moveTo>
                  <a:pt x="0" y="0"/>
                </a:moveTo>
                <a:lnTo>
                  <a:pt x="7079375" y="0"/>
                </a:lnTo>
                <a:lnTo>
                  <a:pt x="7079375" y="5137939"/>
                </a:lnTo>
                <a:lnTo>
                  <a:pt x="0" y="5137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with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9118" y="1986365"/>
            <a:ext cx="1622018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with statement automatically closes the file after use.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59819" y="2919180"/>
            <a:ext cx="9146282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with statement automatically handles file closing, but it does not remove the need for try-except in all cases.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does not handle errors like: EOFError and FileNotFoundError. So while reading binary files using: pickle.load() we still need try-except EOFError because: pickle.load() raises EOFError at end of file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only manages opening and closing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with statement and try-except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EB7E89-1A59-765D-1296-E2B797689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30155"/>
              </p:ext>
            </p:extLst>
          </p:nvPr>
        </p:nvGraphicFramePr>
        <p:xfrm>
          <a:off x="1524000" y="2289160"/>
          <a:ext cx="14935200" cy="5292740"/>
        </p:xfrm>
        <a:graphic>
          <a:graphicData uri="http://schemas.openxmlformats.org/drawingml/2006/table">
            <a:tbl>
              <a:tblPr/>
              <a:tblGrid>
                <a:gridCol w="7467600">
                  <a:extLst>
                    <a:ext uri="{9D8B030D-6E8A-4147-A177-3AD203B41FA5}">
                      <a16:colId xmlns:a16="http://schemas.microsoft.com/office/drawing/2014/main" val="3020009461"/>
                    </a:ext>
                  </a:extLst>
                </a:gridCol>
                <a:gridCol w="7467600">
                  <a:extLst>
                    <a:ext uri="{9D8B030D-6E8A-4147-A177-3AD203B41FA5}">
                      <a16:colId xmlns:a16="http://schemas.microsoft.com/office/drawing/2014/main" val="3322796194"/>
                    </a:ext>
                  </a:extLst>
                </a:gridCol>
              </a:tblGrid>
              <a:tr h="132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with statement</a:t>
                      </a: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</a:rPr>
                        <a:t>try-except</a:t>
                      </a: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894611"/>
                  </a:ext>
                </a:extLst>
              </a:tr>
              <a:tr h="132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Automatically closes file</a:t>
                      </a: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Handles runtime errors</a:t>
                      </a: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326389"/>
                  </a:ext>
                </a:extLst>
              </a:tr>
              <a:tr h="132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for resource management</a:t>
                      </a: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for exception handling</a:t>
                      </a: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064997"/>
                  </a:ext>
                </a:extLst>
              </a:tr>
              <a:tr h="1323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Does not handle EOFError</a:t>
                      </a: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Can handle </a:t>
                      </a:r>
                      <a:r>
                        <a:rPr lang="en-IN" sz="2800" dirty="0" err="1">
                          <a:effectLst/>
                        </a:rPr>
                        <a:t>EOFError</a:t>
                      </a:r>
                      <a:endParaRPr lang="en-IN" sz="2800" dirty="0">
                        <a:effectLst/>
                      </a:endParaRPr>
                    </a:p>
                  </a:txBody>
                  <a:tcPr marL="79677" marR="79677" marT="39838" marB="3983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4939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4B436C1-684C-0F62-CF39-8BE179CB7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98701" y="3427427"/>
            <a:ext cx="4048918" cy="5697150"/>
          </a:xfrm>
          <a:custGeom>
            <a:avLst/>
            <a:gdLst/>
            <a:ahLst/>
            <a:cxnLst/>
            <a:rect l="l" t="t" r="r" b="b"/>
            <a:pathLst>
              <a:path w="4048918" h="5697150">
                <a:moveTo>
                  <a:pt x="0" y="0"/>
                </a:moveTo>
                <a:lnTo>
                  <a:pt x="4048917" y="0"/>
                </a:lnTo>
                <a:lnTo>
                  <a:pt x="4048917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Searching in a Binary File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04062"/>
            <a:ext cx="1622018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binary files, records are read using pickle.load() and compared with the search value.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64804" y="3494475"/>
            <a:ext cx="9207996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pickle.load() reads one record at a time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data[0] == 101 searches Roll Number 101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EOFError handles end of file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Updating Records in a Binary File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09565"/>
            <a:ext cx="16230600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Updating in a binary file means modifying an existing record stored in the file.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Since binary files do not allow direct modification of records easily, the common method is: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 records from original file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Modify the required record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 records into a temporary file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Replace original file with updated file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uses the pickle module for handling binary files.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139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Accessing and Manipulating Location of a File Pointer        (Random Access)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87165"/>
            <a:ext cx="162306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file pointer is a marker that indicates the current position in a file from where the next read or write operation will take place.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Normally, files are processed sequentially. But sometimes we need to directly move to a specific location in a file. This is called Random Access.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two functions for random access: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tell()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seek()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240975"/>
            <a:ext cx="6674631" cy="5017325"/>
          </a:xfrm>
          <a:custGeom>
            <a:avLst/>
            <a:gdLst/>
            <a:ahLst/>
            <a:cxnLst/>
            <a:rect l="l" t="t" r="r" b="b"/>
            <a:pathLst>
              <a:path w="6674631" h="5017325">
                <a:moveTo>
                  <a:pt x="0" y="0"/>
                </a:moveTo>
                <a:lnTo>
                  <a:pt x="6674631" y="0"/>
                </a:lnTo>
                <a:lnTo>
                  <a:pt x="6674631" y="5017325"/>
                </a:lnTo>
                <a:lnTo>
                  <a:pt x="0" y="5017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tell() Function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109565"/>
            <a:ext cx="162306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tell() function returns the current position of the file pointer.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file_object.tell()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4174300"/>
            <a:ext cx="811530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Initially file pointer is at position 0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reading 5 characters, pointer moves to position 5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551780"/>
            <a:ext cx="7127749" cy="4910227"/>
          </a:xfrm>
          <a:custGeom>
            <a:avLst/>
            <a:gdLst/>
            <a:ahLst/>
            <a:cxnLst/>
            <a:rect l="l" t="t" r="r" b="b"/>
            <a:pathLst>
              <a:path w="7127749" h="4910227">
                <a:moveTo>
                  <a:pt x="0" y="0"/>
                </a:moveTo>
                <a:lnTo>
                  <a:pt x="7127749" y="0"/>
                </a:lnTo>
                <a:lnTo>
                  <a:pt x="7127749" y="4910227"/>
                </a:lnTo>
                <a:lnTo>
                  <a:pt x="0" y="491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seek() Function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86365"/>
            <a:ext cx="1623060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seek() function is used to move the file pointer to a specific position in the file.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 file_object.seek(offset)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offset → position to move file pointer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90619" y="4485105"/>
            <a:ext cx="9497381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seek(3) moves pointer to position 3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Reading starts from character at that position.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Access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801564"/>
            <a:ext cx="16230600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Random access means directly accessing any position in a file without reading all previous data.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is useful for: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Updating records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Searching large files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 data retrieval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seek() and tell()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B79DC4-7407-7B21-9F9F-1C2F9E31F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079066"/>
              </p:ext>
            </p:extLst>
          </p:nvPr>
        </p:nvGraphicFramePr>
        <p:xfrm>
          <a:off x="1039118" y="2146315"/>
          <a:ext cx="14581882" cy="4749786"/>
        </p:xfrm>
        <a:graphic>
          <a:graphicData uri="http://schemas.openxmlformats.org/drawingml/2006/table">
            <a:tbl>
              <a:tblPr/>
              <a:tblGrid>
                <a:gridCol w="7290941">
                  <a:extLst>
                    <a:ext uri="{9D8B030D-6E8A-4147-A177-3AD203B41FA5}">
                      <a16:colId xmlns:a16="http://schemas.microsoft.com/office/drawing/2014/main" val="3190864469"/>
                    </a:ext>
                  </a:extLst>
                </a:gridCol>
                <a:gridCol w="7290941">
                  <a:extLst>
                    <a:ext uri="{9D8B030D-6E8A-4147-A177-3AD203B41FA5}">
                      <a16:colId xmlns:a16="http://schemas.microsoft.com/office/drawing/2014/main" val="1615691623"/>
                    </a:ext>
                  </a:extLst>
                </a:gridCol>
              </a:tblGrid>
              <a:tr h="1583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seek()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tell()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724855"/>
                  </a:ext>
                </a:extLst>
              </a:tr>
              <a:tr h="1583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Moves file pointer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Returns current position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953976"/>
                  </a:ext>
                </a:extLst>
              </a:tr>
              <a:tr h="1583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Used for random access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Used to know pointer location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4429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4D2209C-AF40-5EAD-0498-092CEE73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89125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Updating Records in a File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55565"/>
            <a:ext cx="162306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binary files, records can also be updated using the position of the file pointer.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rpos means record position or the position where a particular record starts in the binary file.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Before reading a record, we store the current file pointer position using: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rpos = f.tell()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position helps us move back to the same record later using seek() and update it.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method is called Random Access Updating.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CSV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6365"/>
            <a:ext cx="16230600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CSV (Comma Separated Values) file is a special type of text file used to store tabular data.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line in a CSV file represents a record, and the values within a record are separated by commas.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Although commas are the default delimiter in CSV files, other characters such as semicolon (;), colon (:), tab (\t), can also be used to separate values.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CSV files are useful for storing and transferring structured data.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CSV Module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6365"/>
            <a:ext cx="16230600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a built-in csv module that makes it easy to read from and write to CSV files.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Importing the CSV Module: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import csv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csv module provides two specific types of objects - the reader and writer objects - to read and write into CSV files.</a:t>
            </a:r>
          </a:p>
          <a:p>
            <a:pPr marL="2202178" lvl="3" indent="-550545" algn="l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csv.reader()       Reads data from a CSV file</a:t>
            </a:r>
          </a:p>
          <a:p>
            <a:pPr marL="2202178" lvl="3" indent="-550545" algn="l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csv.writer()         Writes data to a CSV file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and Closing CSV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09565"/>
            <a:ext cx="1623060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Before reading from or writing to a CSV file, the file must be opened.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the operation is completed, it should be closed to free system resources and ensure that all data is properly saved.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477225"/>
            <a:ext cx="16230600" cy="58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Opening a CSV 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533851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open("filename.csv", mode)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Common Modes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ADCFC7-A628-5015-1E08-AAE7779AF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953078"/>
              </p:ext>
            </p:extLst>
          </p:nvPr>
        </p:nvGraphicFramePr>
        <p:xfrm>
          <a:off x="1250192" y="2476500"/>
          <a:ext cx="14066006" cy="4876802"/>
        </p:xfrm>
        <a:graphic>
          <a:graphicData uri="http://schemas.openxmlformats.org/drawingml/2006/table">
            <a:tbl>
              <a:tblPr/>
              <a:tblGrid>
                <a:gridCol w="4083808">
                  <a:extLst>
                    <a:ext uri="{9D8B030D-6E8A-4147-A177-3AD203B41FA5}">
                      <a16:colId xmlns:a16="http://schemas.microsoft.com/office/drawing/2014/main" val="4095031120"/>
                    </a:ext>
                  </a:extLst>
                </a:gridCol>
                <a:gridCol w="9982198">
                  <a:extLst>
                    <a:ext uri="{9D8B030D-6E8A-4147-A177-3AD203B41FA5}">
                      <a16:colId xmlns:a16="http://schemas.microsoft.com/office/drawing/2014/main" val="1211987056"/>
                    </a:ext>
                  </a:extLst>
                </a:gridCol>
              </a:tblGrid>
              <a:tr h="954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Mode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Purpose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62979"/>
                  </a:ext>
                </a:extLst>
              </a:tr>
              <a:tr h="954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"r"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Read an existing CSV file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0008"/>
                  </a:ext>
                </a:extLst>
              </a:tr>
              <a:tr h="1060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"w"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 to a CSV file (creates a new file or overwrites existing content)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93874"/>
                  </a:ext>
                </a:extLst>
              </a:tr>
              <a:tr h="954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"a"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Append data to an existing CSV file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262885"/>
                  </a:ext>
                </a:extLst>
              </a:tr>
              <a:tr h="954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"r+"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Read and write both</a:t>
                      </a:r>
                    </a:p>
                  </a:txBody>
                  <a:tcPr marL="73818" marR="73818" marT="36909" marB="3690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0253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50DB1EE-2AFE-8073-3D0B-2D838F65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Closing a CSV File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47965"/>
            <a:ext cx="16230600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f.close()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Why Close a File?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Releases system resources.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Ensures all buffered data is written to the file.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Prevents data loss or file corruption.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with statement automatically closes the file after use. No need to write f.close() explicitly.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6143692" cy="5126393"/>
          </a:xfrm>
          <a:custGeom>
            <a:avLst/>
            <a:gdLst/>
            <a:ahLst/>
            <a:cxnLst/>
            <a:rect l="l" t="t" r="r" b="b"/>
            <a:pathLst>
              <a:path w="6143692" h="5126393">
                <a:moveTo>
                  <a:pt x="0" y="0"/>
                </a:moveTo>
                <a:lnTo>
                  <a:pt x="6143692" y="0"/>
                </a:lnTo>
                <a:lnTo>
                  <a:pt x="6143692" y="5126393"/>
                </a:lnTo>
                <a:lnTo>
                  <a:pt x="0" y="512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61" r="-23061" b="-69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16011" y="1951120"/>
            <a:ext cx="8743289" cy="4203972"/>
          </a:xfrm>
          <a:custGeom>
            <a:avLst/>
            <a:gdLst/>
            <a:ahLst/>
            <a:cxnLst/>
            <a:rect l="l" t="t" r="r" b="b"/>
            <a:pathLst>
              <a:path w="8743289" h="4203972">
                <a:moveTo>
                  <a:pt x="0" y="0"/>
                </a:moveTo>
                <a:lnTo>
                  <a:pt x="8743289" y="0"/>
                </a:lnTo>
                <a:lnTo>
                  <a:pt x="8743289" y="4203973"/>
                </a:lnTo>
                <a:lnTo>
                  <a:pt x="0" y="4203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18" r="-5284"/>
            </a:stretch>
          </a:blipFill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 of newline Argument in Opening CSV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9118" y="2201965"/>
            <a:ext cx="16220182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writing CSV files, Python may insert extra blank lines between records on some operating systems (especially Windows).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prevent this, the file should be opened with: newline=""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 = open("student.csv", "w", newline="")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292784" cy="5029317"/>
          </a:xfrm>
          <a:custGeom>
            <a:avLst/>
            <a:gdLst/>
            <a:ahLst/>
            <a:cxnLst/>
            <a:rect l="l" t="t" r="r" b="b"/>
            <a:pathLst>
              <a:path w="8292784" h="5029317">
                <a:moveTo>
                  <a:pt x="0" y="0"/>
                </a:moveTo>
                <a:lnTo>
                  <a:pt x="8292784" y="0"/>
                </a:lnTo>
                <a:lnTo>
                  <a:pt x="8292784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547988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newline="" Used?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477760"/>
            <a:ext cx="162306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Prevents extra blank lines between records.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Allows the csv module to handle line endings correctly.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Recommended whenever a CSV file is opened for writing.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9118" y="952500"/>
            <a:ext cx="162201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Writing in CSV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6365"/>
            <a:ext cx="16230600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Inorder to write into csv files, the user data is converted into writable delimited form and then it is stored in the form of csv files.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write data into a CSV file, Python provides the</a:t>
            </a: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csv.writer()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function. The writer object can write data using: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writerow()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→ writes a single record (one row)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writerows()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→ writes multiple records (many rows)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665766"/>
            <a:ext cx="7801798" cy="5082673"/>
          </a:xfrm>
          <a:custGeom>
            <a:avLst/>
            <a:gdLst/>
            <a:ahLst/>
            <a:cxnLst/>
            <a:rect l="l" t="t" r="r" b="b"/>
            <a:pathLst>
              <a:path w="7801798" h="5082673">
                <a:moveTo>
                  <a:pt x="0" y="0"/>
                </a:moveTo>
                <a:lnTo>
                  <a:pt x="7801798" y="0"/>
                </a:lnTo>
                <a:lnTo>
                  <a:pt x="7801798" y="5082672"/>
                </a:lnTo>
                <a:lnTo>
                  <a:pt x="0" y="5082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39118" y="942975"/>
            <a:ext cx="16220182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writerow()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9118" y="2078765"/>
            <a:ext cx="16220182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Writes one row at a time to the CSV file.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writer.writerow(record)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where record is usually a list or tuple.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588728"/>
            <a:ext cx="6981745" cy="5175148"/>
          </a:xfrm>
          <a:custGeom>
            <a:avLst/>
            <a:gdLst/>
            <a:ahLst/>
            <a:cxnLst/>
            <a:rect l="l" t="t" r="r" b="b"/>
            <a:pathLst>
              <a:path w="6981745" h="5175148">
                <a:moveTo>
                  <a:pt x="0" y="0"/>
                </a:moveTo>
                <a:lnTo>
                  <a:pt x="6981745" y="0"/>
                </a:lnTo>
                <a:lnTo>
                  <a:pt x="6981745" y="5175148"/>
                </a:lnTo>
                <a:lnTo>
                  <a:pt x="0" y="5175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42975"/>
            <a:ext cx="162306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writerows()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86365"/>
            <a:ext cx="1623060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Writes multiple rows at once.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Syntax 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writer.writerows(records)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where records is a list of lists or list of tuples.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39118" y="952500"/>
            <a:ext cx="162201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 between writerow() and writerows()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285E33-FD2B-1E0C-E6D9-1D44E4BA3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236924"/>
              </p:ext>
            </p:extLst>
          </p:nvPr>
        </p:nvGraphicFramePr>
        <p:xfrm>
          <a:off x="1039118" y="2247900"/>
          <a:ext cx="15191482" cy="5562600"/>
        </p:xfrm>
        <a:graphic>
          <a:graphicData uri="http://schemas.openxmlformats.org/drawingml/2006/table">
            <a:tbl>
              <a:tblPr/>
              <a:tblGrid>
                <a:gridCol w="7595741">
                  <a:extLst>
                    <a:ext uri="{9D8B030D-6E8A-4147-A177-3AD203B41FA5}">
                      <a16:colId xmlns:a16="http://schemas.microsoft.com/office/drawing/2014/main" val="1700107662"/>
                    </a:ext>
                  </a:extLst>
                </a:gridCol>
                <a:gridCol w="7595741">
                  <a:extLst>
                    <a:ext uri="{9D8B030D-6E8A-4147-A177-3AD203B41FA5}">
                      <a16:colId xmlns:a16="http://schemas.microsoft.com/office/drawing/2014/main" val="2560518733"/>
                    </a:ext>
                  </a:extLst>
                </a:gridCol>
              </a:tblGrid>
              <a:tr h="1099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writerow()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writerows()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992540"/>
                  </a:ext>
                </a:extLst>
              </a:tr>
              <a:tr h="1099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Writes one record at a time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Writes multiple records at once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053650"/>
                  </a:ext>
                </a:extLst>
              </a:tr>
              <a:tr h="1099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Takes a single list/tuple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Takes a list of lists/tuples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201493"/>
                  </a:ext>
                </a:extLst>
              </a:tr>
              <a:tr h="1099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Called repeatedly for multiple records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Called once for all records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00099"/>
                  </a:ext>
                </a:extLst>
              </a:tr>
              <a:tr h="1163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Useful when records are entered one by one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Useful when records are already available in a collection</a:t>
                      </a:r>
                    </a:p>
                  </a:txBody>
                  <a:tcPr marL="71009" marR="71009" marT="35504" marB="3550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17745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F778433-9F65-BF0D-F09B-49AAB19C0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9118" y="4245380"/>
            <a:ext cx="9220443" cy="3602252"/>
          </a:xfrm>
          <a:custGeom>
            <a:avLst/>
            <a:gdLst/>
            <a:ahLst/>
            <a:cxnLst/>
            <a:rect l="l" t="t" r="r" b="b"/>
            <a:pathLst>
              <a:path w="9220443" h="3602252">
                <a:moveTo>
                  <a:pt x="0" y="0"/>
                </a:moveTo>
                <a:lnTo>
                  <a:pt x="9220443" y="0"/>
                </a:lnTo>
                <a:lnTo>
                  <a:pt x="9220443" y="3602252"/>
                </a:lnTo>
                <a:lnTo>
                  <a:pt x="0" y="3602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39118" y="952500"/>
            <a:ext cx="162201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Reading in CSV Files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9118" y="2017165"/>
            <a:ext cx="16220182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csv.reader() function is used to read data from a CSV file.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returns an object that reads the file row by row, where each row is represented as a list of strings.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7A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4BD38-817C-3A69-B87C-F45C29AB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42D5981-0462-9423-3867-F96DAE6FFD60}"/>
              </a:ext>
            </a:extLst>
          </p:cNvPr>
          <p:cNvSpPr txBox="1"/>
          <p:nvPr/>
        </p:nvSpPr>
        <p:spPr>
          <a:xfrm>
            <a:off x="1039118" y="952500"/>
            <a:ext cx="1622018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F6DFD1-7804-3AE6-2D7A-62A02B5F80E2}"/>
              </a:ext>
            </a:extLst>
          </p:cNvPr>
          <p:cNvSpPr txBox="1"/>
          <p:nvPr/>
        </p:nvSpPr>
        <p:spPr>
          <a:xfrm>
            <a:off x="1039118" y="2017165"/>
            <a:ext cx="16220182" cy="612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Files provide a permanent way to store data for future use.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Python supports different types of files such as </a:t>
            </a:r>
            <a:r>
              <a:rPr lang="en-IN" sz="3600" b="1" dirty="0">
                <a:solidFill>
                  <a:schemeClr val="bg1"/>
                </a:solidFill>
              </a:rPr>
              <a:t>text files</a:t>
            </a:r>
            <a:r>
              <a:rPr lang="en-IN" sz="3600" dirty="0">
                <a:solidFill>
                  <a:schemeClr val="bg1"/>
                </a:solidFill>
              </a:rPr>
              <a:t>, </a:t>
            </a:r>
            <a:r>
              <a:rPr lang="en-IN" sz="3600" b="1" dirty="0">
                <a:solidFill>
                  <a:schemeClr val="bg1"/>
                </a:solidFill>
              </a:rPr>
              <a:t>binary files</a:t>
            </a:r>
            <a:r>
              <a:rPr lang="en-IN" sz="3600" dirty="0">
                <a:solidFill>
                  <a:schemeClr val="bg1"/>
                </a:solidFill>
              </a:rPr>
              <a:t>, and </a:t>
            </a:r>
            <a:r>
              <a:rPr lang="en-IN" sz="3600" b="1" dirty="0">
                <a:solidFill>
                  <a:schemeClr val="bg1"/>
                </a:solidFill>
              </a:rPr>
              <a:t>CSV files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File operations include </a:t>
            </a:r>
            <a:r>
              <a:rPr lang="en-IN" sz="3600" b="1" dirty="0">
                <a:solidFill>
                  <a:schemeClr val="bg1"/>
                </a:solidFill>
              </a:rPr>
              <a:t>opening, reading, writing, appending, and closing</a:t>
            </a:r>
            <a:r>
              <a:rPr lang="en-IN" sz="3600" dirty="0">
                <a:solidFill>
                  <a:schemeClr val="bg1"/>
                </a:solidFill>
              </a:rPr>
              <a:t> files.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Various file modes (r, w, a, </a:t>
            </a:r>
            <a:r>
              <a:rPr lang="en-IN" sz="3600" dirty="0" err="1">
                <a:solidFill>
                  <a:schemeClr val="bg1"/>
                </a:solidFill>
              </a:rPr>
              <a:t>rb</a:t>
            </a:r>
            <a:r>
              <a:rPr lang="en-IN" sz="3600" dirty="0">
                <a:solidFill>
                  <a:schemeClr val="bg1"/>
                </a:solidFill>
              </a:rPr>
              <a:t>,  </a:t>
            </a:r>
            <a:r>
              <a:rPr lang="en-IN" sz="3600" dirty="0" err="1">
                <a:solidFill>
                  <a:schemeClr val="bg1"/>
                </a:solidFill>
              </a:rPr>
              <a:t>wb</a:t>
            </a:r>
            <a:r>
              <a:rPr lang="en-IN" sz="3600" dirty="0">
                <a:solidFill>
                  <a:schemeClr val="bg1"/>
                </a:solidFill>
              </a:rPr>
              <a:t>, etc.) determine how a file is accessed.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Functions like seek() and tell() enable random access in files.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Binary files can be handled using the </a:t>
            </a:r>
            <a:r>
              <a:rPr lang="en-IN" sz="3600" b="1" dirty="0">
                <a:solidFill>
                  <a:schemeClr val="bg1"/>
                </a:solidFill>
              </a:rPr>
              <a:t>pickle module</a:t>
            </a:r>
            <a:r>
              <a:rPr lang="en-IN" sz="3600" dirty="0">
                <a:solidFill>
                  <a:schemeClr val="bg1"/>
                </a:solidFill>
              </a:rPr>
              <a:t> for storing and retrieving Python objects.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The </a:t>
            </a:r>
            <a:r>
              <a:rPr lang="en-IN" sz="3600" b="1" dirty="0">
                <a:solidFill>
                  <a:schemeClr val="bg1"/>
                </a:solidFill>
              </a:rPr>
              <a:t>csv module</a:t>
            </a:r>
            <a:r>
              <a:rPr lang="en-IN" sz="3600" dirty="0">
                <a:solidFill>
                  <a:schemeClr val="bg1"/>
                </a:solidFill>
              </a:rPr>
              <a:t> simplifies working with CSV files for tabular data storage.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File handling is an essential concept for developing real-world applications that require data storage and management.</a:t>
            </a:r>
            <a:endParaRPr lang="en-US" sz="3399" dirty="0">
              <a:solidFill>
                <a:schemeClr val="bg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9799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4984</Words>
  <Application>Microsoft Office PowerPoint</Application>
  <PresentationFormat>Custom</PresentationFormat>
  <Paragraphs>689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Canva Sans</vt:lpstr>
      <vt:lpstr>Canva Sans Bold</vt:lpstr>
      <vt:lpstr>Calibri</vt:lpstr>
      <vt:lpstr>Retropix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cp:lastModifiedBy>DHIRENDRA TIWARI</cp:lastModifiedBy>
  <cp:revision>3</cp:revision>
  <dcterms:created xsi:type="dcterms:W3CDTF">2006-08-16T00:00:00Z</dcterms:created>
  <dcterms:modified xsi:type="dcterms:W3CDTF">2026-06-25T04:37:40Z</dcterms:modified>
  <dc:identifier>DAG8f1u5cls</dc:identifier>
</cp:coreProperties>
</file>