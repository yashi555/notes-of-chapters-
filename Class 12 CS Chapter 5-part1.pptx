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8288000" cy="10287000"/>
  <p:notesSz cx="6858000" cy="9144000"/>
  <p:embeddedFontLst>
    <p:embeddedFont>
      <p:font typeface="Canva Sans" panose="020B0604020202020204" charset="0"/>
      <p:regular r:id="rId41"/>
    </p:embeddedFont>
    <p:embeddedFont>
      <p:font typeface="Canva Sans Bold" panose="020B0604020202020204" charset="0"/>
      <p:regular r:id="rId42"/>
    </p:embeddedFont>
    <p:embeddedFont>
      <p:font typeface="Retropix" panose="020B0604020202020204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pixelated trash can icon"/>
          <p:cNvSpPr/>
          <p:nvPr/>
        </p:nvSpPr>
        <p:spPr>
          <a:xfrm>
            <a:off x="633368" y="3626446"/>
            <a:ext cx="782400" cy="1057297"/>
          </a:xfrm>
          <a:custGeom>
            <a:avLst/>
            <a:gdLst/>
            <a:ahLst/>
            <a:cxnLst/>
            <a:rect l="l" t="t" r="r" b="b"/>
            <a:pathLst>
              <a:path w="782400" h="1057297">
                <a:moveTo>
                  <a:pt x="0" y="0"/>
                </a:moveTo>
                <a:lnTo>
                  <a:pt x="782400" y="0"/>
                </a:lnTo>
                <a:lnTo>
                  <a:pt x="782400" y="1057296"/>
                </a:lnTo>
                <a:lnTo>
                  <a:pt x="0" y="1057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 yellow folder icon"/>
          <p:cNvSpPr/>
          <p:nvPr/>
        </p:nvSpPr>
        <p:spPr>
          <a:xfrm>
            <a:off x="511249" y="2300667"/>
            <a:ext cx="1026639" cy="785846"/>
          </a:xfrm>
          <a:custGeom>
            <a:avLst/>
            <a:gdLst/>
            <a:ahLst/>
            <a:cxnLst/>
            <a:rect l="l" t="t" r="r" b="b"/>
            <a:pathLst>
              <a:path w="1026639" h="785846">
                <a:moveTo>
                  <a:pt x="0" y="0"/>
                </a:moveTo>
                <a:lnTo>
                  <a:pt x="1026639" y="0"/>
                </a:lnTo>
                <a:lnTo>
                  <a:pt x="1026639" y="785845"/>
                </a:lnTo>
                <a:lnTo>
                  <a:pt x="0" y="78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n old computer with the word hi on it"/>
          <p:cNvSpPr/>
          <p:nvPr/>
        </p:nvSpPr>
        <p:spPr>
          <a:xfrm>
            <a:off x="543623" y="538933"/>
            <a:ext cx="961890" cy="1221800"/>
          </a:xfrm>
          <a:custGeom>
            <a:avLst/>
            <a:gdLst/>
            <a:ahLst/>
            <a:cxnLst/>
            <a:rect l="l" t="t" r="r" b="b"/>
            <a:pathLst>
              <a:path w="961890" h="1221800">
                <a:moveTo>
                  <a:pt x="0" y="0"/>
                </a:moveTo>
                <a:lnTo>
                  <a:pt x="961890" y="0"/>
                </a:lnTo>
                <a:lnTo>
                  <a:pt x="961890" y="1221801"/>
                </a:lnTo>
                <a:lnTo>
                  <a:pt x="0" y="1221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a pixel image of a disk with a music note on it"/>
          <p:cNvSpPr/>
          <p:nvPr/>
        </p:nvSpPr>
        <p:spPr>
          <a:xfrm>
            <a:off x="559442" y="5223676"/>
            <a:ext cx="930253" cy="980151"/>
          </a:xfrm>
          <a:custGeom>
            <a:avLst/>
            <a:gdLst/>
            <a:ahLst/>
            <a:cxnLst/>
            <a:rect l="l" t="t" r="r" b="b"/>
            <a:pathLst>
              <a:path w="930253" h="980151">
                <a:moveTo>
                  <a:pt x="0" y="0"/>
                </a:moveTo>
                <a:lnTo>
                  <a:pt x="930253" y="0"/>
                </a:lnTo>
                <a:lnTo>
                  <a:pt x="930253" y="980151"/>
                </a:lnTo>
                <a:lnTo>
                  <a:pt x="0" y="980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n image of a floppy disk"/>
          <p:cNvSpPr/>
          <p:nvPr/>
        </p:nvSpPr>
        <p:spPr>
          <a:xfrm>
            <a:off x="16802844" y="538933"/>
            <a:ext cx="779562" cy="779562"/>
          </a:xfrm>
          <a:custGeom>
            <a:avLst/>
            <a:gdLst/>
            <a:ahLst/>
            <a:cxnLst/>
            <a:rect l="l" t="t" r="r" b="b"/>
            <a:pathLst>
              <a:path w="779562" h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a yellow triangle with an exclamation mark on it"/>
          <p:cNvSpPr/>
          <p:nvPr/>
        </p:nvSpPr>
        <p:spPr>
          <a:xfrm>
            <a:off x="16788145" y="1764975"/>
            <a:ext cx="779562" cy="779562"/>
          </a:xfrm>
          <a:custGeom>
            <a:avLst/>
            <a:gdLst/>
            <a:ahLst/>
            <a:cxnLst/>
            <a:rect l="l" t="t" r="r" b="b"/>
            <a:pathLst>
              <a:path w="779562" h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60564" y="2162636"/>
            <a:ext cx="11366873" cy="363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12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Chapter 5</a:t>
            </a:r>
          </a:p>
          <a:p>
            <a:pPr algn="ctr">
              <a:lnSpc>
                <a:spcPts val="12999"/>
              </a:lnSpc>
            </a:pPr>
            <a:r>
              <a:rPr lang="en-US" sz="12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File Handling</a:t>
            </a:r>
          </a:p>
        </p:txBody>
      </p:sp>
      <p:sp>
        <p:nvSpPr>
          <p:cNvPr id="9" name="Freeform 9" descr="cursor"/>
          <p:cNvSpPr/>
          <p:nvPr/>
        </p:nvSpPr>
        <p:spPr>
          <a:xfrm>
            <a:off x="13004220" y="5206486"/>
            <a:ext cx="484735" cy="825401"/>
          </a:xfrm>
          <a:custGeom>
            <a:avLst/>
            <a:gdLst/>
            <a:ahLst/>
            <a:cxnLst/>
            <a:rect l="l" t="t" r="r" b="b"/>
            <a:pathLst>
              <a:path w="484735" h="825401">
                <a:moveTo>
                  <a:pt x="0" y="0"/>
                </a:moveTo>
                <a:lnTo>
                  <a:pt x="484736" y="0"/>
                </a:lnTo>
                <a:lnTo>
                  <a:pt x="484736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9052698"/>
            <a:ext cx="18288000" cy="1234302"/>
            <a:chOff x="0" y="0"/>
            <a:chExt cx="24384000" cy="164573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384000" cy="1645736"/>
              <a:chOff x="0" y="0"/>
              <a:chExt cx="4816593" cy="32508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6592" cy="32508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32508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325084"/>
                    </a:lnTo>
                    <a:lnTo>
                      <a:pt x="0" y="325084"/>
                    </a:lnTo>
                    <a:close/>
                  </a:path>
                </a:pathLst>
              </a:custGeom>
              <a:solidFill>
                <a:srgbClr val="CCCCCC"/>
              </a:solidFill>
              <a:ln w="95250" cap="sq">
                <a:solidFill>
                  <a:srgbClr val="CCCCCC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816593" cy="363184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16552" y="286517"/>
              <a:ext cx="1072702" cy="1072702"/>
            </a:xfrm>
            <a:custGeom>
              <a:avLst/>
              <a:gdLst/>
              <a:ahLst/>
              <a:cxnLst/>
              <a:rect l="l" t="t" r="r" b="b"/>
              <a:pathLst>
                <a:path w="1072702" h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474997" y="436533"/>
              <a:ext cx="755811" cy="772669"/>
            </a:xfrm>
            <a:custGeom>
              <a:avLst/>
              <a:gdLst/>
              <a:ahLst/>
              <a:cxnLst/>
              <a:rect l="l" t="t" r="r" b="b"/>
              <a:pathLst>
                <a:path w="755811" h="772669">
                  <a:moveTo>
                    <a:pt x="0" y="0"/>
                  </a:moveTo>
                  <a:lnTo>
                    <a:pt x="755812" y="0"/>
                  </a:lnTo>
                  <a:lnTo>
                    <a:pt x="755812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897443" y="318086"/>
              <a:ext cx="1076085" cy="1009564"/>
            </a:xfrm>
            <a:custGeom>
              <a:avLst/>
              <a:gdLst/>
              <a:ahLst/>
              <a:cxnLst/>
              <a:rect l="l" t="t" r="r" b="b"/>
              <a:pathLst>
                <a:path w="1076085" h="1009564">
                  <a:moveTo>
                    <a:pt x="0" y="0"/>
                  </a:moveTo>
                  <a:lnTo>
                    <a:pt x="1076085" y="0"/>
                  </a:lnTo>
                  <a:lnTo>
                    <a:pt x="1076085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3194335" y="366127"/>
              <a:ext cx="883585" cy="913481"/>
            </a:xfrm>
            <a:custGeom>
              <a:avLst/>
              <a:gdLst/>
              <a:ahLst/>
              <a:cxnLst/>
              <a:rect l="l" t="t" r="r" b="b"/>
              <a:pathLst>
                <a:path w="883585" h="913481">
                  <a:moveTo>
                    <a:pt x="0" y="0"/>
                  </a:moveTo>
                  <a:lnTo>
                    <a:pt x="883585" y="0"/>
                  </a:lnTo>
                  <a:lnTo>
                    <a:pt x="883585" y="913481"/>
                  </a:lnTo>
                  <a:lnTo>
                    <a:pt x="0" y="913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5416372" y="377368"/>
              <a:ext cx="890999" cy="890999"/>
            </a:xfrm>
            <a:custGeom>
              <a:avLst/>
              <a:gdLst/>
              <a:ahLst/>
              <a:cxnLst/>
              <a:rect l="l" t="t" r="r" b="b"/>
              <a:pathLst>
                <a:path w="890999" h="890999">
                  <a:moveTo>
                    <a:pt x="0" y="0"/>
                  </a:moveTo>
                  <a:lnTo>
                    <a:pt x="890999" y="0"/>
                  </a:lnTo>
                  <a:lnTo>
                    <a:pt x="890999" y="890999"/>
                  </a:lnTo>
                  <a:lnTo>
                    <a:pt x="0" y="89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4298727" y="342107"/>
              <a:ext cx="896838" cy="961522"/>
            </a:xfrm>
            <a:custGeom>
              <a:avLst/>
              <a:gdLst/>
              <a:ahLst/>
              <a:cxnLst/>
              <a:rect l="l" t="t" r="r" b="b"/>
              <a:pathLst>
                <a:path w="896838" h="961522">
                  <a:moveTo>
                    <a:pt x="0" y="0"/>
                  </a:moveTo>
                  <a:lnTo>
                    <a:pt x="896838" y="0"/>
                  </a:lnTo>
                  <a:lnTo>
                    <a:pt x="896838" y="961522"/>
                  </a:lnTo>
                  <a:lnTo>
                    <a:pt x="0" y="96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6502778" y="318086"/>
              <a:ext cx="1207087" cy="1009564"/>
            </a:xfrm>
            <a:custGeom>
              <a:avLst/>
              <a:gdLst/>
              <a:ahLst/>
              <a:cxnLst/>
              <a:rect l="l" t="t" r="r" b="b"/>
              <a:pathLst>
                <a:path w="1207087" h="1009564">
                  <a:moveTo>
                    <a:pt x="0" y="0"/>
                  </a:moveTo>
                  <a:lnTo>
                    <a:pt x="1207088" y="0"/>
                  </a:lnTo>
                  <a:lnTo>
                    <a:pt x="1207088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22163171" y="429379"/>
              <a:ext cx="1562297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11:11PM</a:t>
              </a:r>
            </a:p>
          </p:txBody>
        </p:sp>
      </p:grpSp>
      <p:sp>
        <p:nvSpPr>
          <p:cNvPr id="22" name="Freeform 22" descr="a pixel x mark"/>
          <p:cNvSpPr/>
          <p:nvPr/>
        </p:nvSpPr>
        <p:spPr>
          <a:xfrm>
            <a:off x="16773447" y="2991016"/>
            <a:ext cx="808959" cy="782484"/>
          </a:xfrm>
          <a:custGeom>
            <a:avLst/>
            <a:gdLst/>
            <a:ahLst/>
            <a:cxnLst/>
            <a:rect l="l" t="t" r="r" b="b"/>
            <a:pathLst>
              <a:path w="808959" h="782484">
                <a:moveTo>
                  <a:pt x="0" y="0"/>
                </a:moveTo>
                <a:lnTo>
                  <a:pt x="808959" y="0"/>
                </a:lnTo>
                <a:lnTo>
                  <a:pt x="808959" y="782484"/>
                </a:lnTo>
                <a:lnTo>
                  <a:pt x="0" y="782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7364" y="857250"/>
            <a:ext cx="4396036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Index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87014"/>
            <a:ext cx="16230600" cy="557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Files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and Closing Files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Text Files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Input, Output and Error Streams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Binary Files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CSV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9936" y="885825"/>
            <a:ext cx="6030664" cy="1203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90456"/>
            <a:ext cx="16230600" cy="7005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programming, data stored in memory (RAM) is temporary and gets lost when a program ends.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store data permanently, we use files on secondary storage devices.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 handling in Python refers to the process of creating, reading, writing, appending, and managing data stored in files on secondary storage devices like hard disks.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helps in managing large amounts of data efficiently and securely.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chapter explains file concepts and basic file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5271" y="876300"/>
            <a:ext cx="5565329" cy="129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24442"/>
            <a:ext cx="1623060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data file is used to store data permanently on a storage device so that it can be accessed later. In Python, data files are mainly classified into 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 Files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Binary Files.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 File</a:t>
            </a: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Text files store data in the form of human-readable characters. The contents of a text file can be easily read and edited using a simple text editor such as Notepad. These files usually have extensions like .txt, .csv, or .log.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0603" y="444500"/>
            <a:ext cx="16230600" cy="957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 files are further divided into the following types:</a:t>
            </a:r>
          </a:p>
          <a:p>
            <a:pPr marL="1684014" lvl="2" indent="-561338" algn="l">
              <a:lnSpc>
                <a:spcPts val="5459"/>
              </a:lnSpc>
              <a:buFont typeface="Arial"/>
              <a:buChar char="⚬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a) </a:t>
            </a:r>
            <a:r>
              <a:rPr lang="en-US" sz="38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Regular Text Files</a:t>
            </a: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Regular text files store data as plain text, where information is written in a simple readable format. Each line generally contains one piece of information or a complete record. These files are easy to create and understand but are not suitable for storing complex data structures. These files have .txt file extention.</a:t>
            </a:r>
          </a:p>
          <a:p>
            <a:pPr algn="l">
              <a:lnSpc>
                <a:spcPts val="5459"/>
              </a:lnSpc>
            </a:pPr>
            <a:endParaRPr lang="en-US" sz="38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684014" lvl="2" indent="-561338" algn="l">
              <a:lnSpc>
                <a:spcPts val="5459"/>
              </a:lnSpc>
              <a:buFont typeface="Arial"/>
              <a:buChar char="⚬"/>
            </a:pPr>
            <a:r>
              <a:rPr lang="en-US" sz="38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Delimited Text Files</a:t>
            </a: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Delimited text files store data in which different fields are separated by a special character called a delimiter. Common delimiters include comma (,), tab (\t), and semicolon (;). Each line usually represents one record, making these files suitable for tabular data. These file have file extention like 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Binary Files</a:t>
            </a: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Binary files store data in binary (0s and 1s) format. These files are not human-readable and require a specific program to interpret the data. Binary files can store complex data such as images, audio, video, or Python objects using modules like pickle.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Binary files are more efficient in terms of storage and processing speed but cannot be edited using a text editor.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Examples of binary files: .dat, .bin, .jpg, .mp3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587085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a Binary File Faster than a Text File? (2018, 2022)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74623"/>
            <a:ext cx="1623060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binary file stores data in 0s and 1s and is not human-readable. It is faster than a text file because data is stored in raw form without conversion, occupies less space, and allows faster read and write operations.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F3F0AE-5AAA-2FB0-70C0-C233AFF07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54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1C1E23-5F19-CAD7-26E8-16BC333A3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78126"/>
              </p:ext>
            </p:extLst>
          </p:nvPr>
        </p:nvGraphicFramePr>
        <p:xfrm>
          <a:off x="1600200" y="4329585"/>
          <a:ext cx="15299350" cy="4896938"/>
        </p:xfrm>
        <a:graphic>
          <a:graphicData uri="http://schemas.openxmlformats.org/drawingml/2006/table">
            <a:tbl>
              <a:tblPr/>
              <a:tblGrid>
                <a:gridCol w="6781800">
                  <a:extLst>
                    <a:ext uri="{9D8B030D-6E8A-4147-A177-3AD203B41FA5}">
                      <a16:colId xmlns:a16="http://schemas.microsoft.com/office/drawing/2014/main" val="473432680"/>
                    </a:ext>
                  </a:extLst>
                </a:gridCol>
                <a:gridCol w="8517550">
                  <a:extLst>
                    <a:ext uri="{9D8B030D-6E8A-4147-A177-3AD203B41FA5}">
                      <a16:colId xmlns:a16="http://schemas.microsoft.com/office/drawing/2014/main" val="2365855497"/>
                    </a:ext>
                  </a:extLst>
                </a:gridCol>
              </a:tblGrid>
              <a:tr h="538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Reason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Explanation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10331"/>
                  </a:ext>
                </a:extLst>
              </a:tr>
              <a:tr h="1291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No conversion needed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Binary files store data in raw form. Text files need conversion (number → string while writing, string → number while reading).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130872"/>
                  </a:ext>
                </a:extLst>
              </a:tr>
              <a:tr h="709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Less storage space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Binary representation uses fewer bytes compared to text representation.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276149"/>
                  </a:ext>
                </a:extLst>
              </a:tr>
              <a:tr h="69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Direct memory access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Data can be read directly into memory structures.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39661"/>
                  </a:ext>
                </a:extLst>
              </a:tr>
              <a:tr h="69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Faster read/write operations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CPU processes binary data more efficiently.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662633"/>
                  </a:ext>
                </a:extLst>
              </a:tr>
              <a:tr h="69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Exact data storage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No loss of precision (important for floats, images, etc.).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981875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25538DD3-E076-8367-C4F0-C02E70432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22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62025"/>
            <a:ext cx="15870850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Text File and Binary File (2016, 2018, 2020, 2023)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CC70F1-7900-A655-EE01-7F070D233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579557"/>
              </p:ext>
            </p:extLst>
          </p:nvPr>
        </p:nvGraphicFramePr>
        <p:xfrm>
          <a:off x="1600200" y="1866900"/>
          <a:ext cx="14859000" cy="7696196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88416886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78614053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33819751"/>
                    </a:ext>
                  </a:extLst>
                </a:gridCol>
              </a:tblGrid>
              <a:tr h="533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Basis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Text File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Binary File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4894"/>
                  </a:ext>
                </a:extLst>
              </a:tr>
              <a:tr h="924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Data storage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Stores data as characters (letters, digits, symbols)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Stores data in binary form (0s and 1s)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89563"/>
                  </a:ext>
                </a:extLst>
              </a:tr>
              <a:tr h="533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Readability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Human-readable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Not human-readable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861577"/>
                  </a:ext>
                </a:extLst>
              </a:tr>
              <a:tr h="924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Data format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Data is stored as strings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Data is stored in raw memory format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08410"/>
                  </a:ext>
                </a:extLst>
              </a:tr>
              <a:tr h="533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Conversion needed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Yes (number ↔ string)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No conversion required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590446"/>
                  </a:ext>
                </a:extLst>
              </a:tr>
              <a:tr h="534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Speed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Slower due to conversion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Faster as no conversion is needed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088160"/>
                  </a:ext>
                </a:extLst>
              </a:tr>
              <a:tr h="533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File size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Larger in size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Smaller in size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774244"/>
                  </a:ext>
                </a:extLst>
              </a:tr>
              <a:tr h="924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Accuracy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May lose precision (e.g., floating values)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Stores exact data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204542"/>
                  </a:ext>
                </a:extLst>
              </a:tr>
              <a:tr h="924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Editing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Can be edited using text editor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Cannot be edited using text editor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752490"/>
                  </a:ext>
                </a:extLst>
              </a:tr>
              <a:tr h="795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Portability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More portable across systems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Less portable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010189"/>
                  </a:ext>
                </a:extLst>
              </a:tr>
              <a:tr h="533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Examples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.txt, .csv, .py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.</a:t>
                      </a:r>
                      <a:r>
                        <a:rPr lang="en-IN" sz="2800" dirty="0" err="1">
                          <a:effectLst/>
                        </a:rPr>
                        <a:t>dat</a:t>
                      </a:r>
                      <a:r>
                        <a:rPr lang="en-IN" sz="2800" dirty="0">
                          <a:effectLst/>
                        </a:rPr>
                        <a:t>, .bin, .exe, .jpg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3021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244B636-4A31-D399-6066-18858FD7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9890" y="876300"/>
            <a:ext cx="12755910" cy="129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and Closing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5784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 File in Python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86177"/>
            <a:ext cx="16230600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work with a file, it must be opened using the built-in open() function.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 = open("filename", "mode")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 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open("data.txt", "r")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Default mode is r (read mode)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964658" y="933450"/>
            <a:ext cx="7446541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Opening Modes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F81C32-4A18-5F8A-717D-0FF0BB76B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691005"/>
              </p:ext>
            </p:extLst>
          </p:nvPr>
        </p:nvGraphicFramePr>
        <p:xfrm>
          <a:off x="2438400" y="2487295"/>
          <a:ext cx="12801600" cy="6222817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999168236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622770878"/>
                    </a:ext>
                  </a:extLst>
                </a:gridCol>
              </a:tblGrid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Mode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Meaning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84376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Read (file must exist)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2669"/>
                  </a:ext>
                </a:extLst>
              </a:tr>
              <a:tr h="1048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w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Write (creates new file / overwrites existing file)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177238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Append (adds data at end of file)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164486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r+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Read and write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73836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w+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Write and read (overwrites file)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0220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a+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Append and read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36468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rb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Read binary file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300375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wb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 binary file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304848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ab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Append binary file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16218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B57A851-9B33-96E1-E1D0-D4FEA35CD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Closing a File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7319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After file operations are complete, the file should be closed to free system resources.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file_object.close()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= open("data.txt", "r")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print(f.read())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f.close()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Using with automatically closes the file, even if an error occurs. No need to write close() explicitly.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with open("data.txt", "r") as f: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print(f.read())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4958" y="904875"/>
            <a:ext cx="10075441" cy="1111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Text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47621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Reading from Text Files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21992"/>
            <a:ext cx="1623060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three main methods to read data from a text file: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read()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readline()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readlines()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691198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read() Method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528050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read() method reads the entire contents of the file and returns it as one string.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1225"/>
            <a:ext cx="16230600" cy="929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file_object.read()</a:t>
            </a:r>
          </a:p>
          <a:p>
            <a:pPr algn="l">
              <a:lnSpc>
                <a:spcPts val="4620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"r")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= f.read()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print(data)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  <a:p>
            <a:pPr algn="l">
              <a:lnSpc>
                <a:spcPts val="48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Reads whole file at once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Output is a string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 pointer moves to the end of file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Suitable for small files</a:t>
            </a:r>
          </a:p>
          <a:p>
            <a:pPr algn="l">
              <a:lnSpc>
                <a:spcPts val="5599"/>
              </a:lnSpc>
            </a:pPr>
            <a:endParaRPr lang="en-US" sz="34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readline() Method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12652"/>
            <a:ext cx="162306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readline() method reads one line at a time from the file.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62412"/>
            <a:ext cx="730034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file_object.readline()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"r")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line1 = f.readline()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line2 = f.readline()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print(line1)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print(line2)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66706" y="5681812"/>
            <a:ext cx="8253291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Reads single line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Includes newline character (\n)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Useful for line-by-line processing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readlines() Method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38875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readlines() method reads all lines of the file and returns them as a list of strings.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file_object.readlines()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"r")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lines = f.readlines()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print(lines)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6364308"/>
            <a:ext cx="8588635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Each line becomes one list element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Newline character is included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Useful when working with lists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write() Method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7319"/>
            <a:ext cx="1623060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write() method is used to write a string into a text file.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file_object.write(string)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"w")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f.write("Python File Handling\n")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f.write("Writing to text files")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57875" y="4770755"/>
            <a:ext cx="7977679" cy="551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Writes only strings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Does not add newline automatically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Returns the number of characters written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Existing data is overwritten in w mode</a:t>
            </a:r>
          </a:p>
          <a:p>
            <a:pPr algn="ctr">
              <a:lnSpc>
                <a:spcPts val="475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writelines() Method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75764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writelines() method writes multiple strings to a file using a list or sequence of strings.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file_object.writelines(list_of_strings)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"w")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lines = ["Python\n", "File Handling"]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f.writelines(lines)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51658" y="5076825"/>
            <a:ext cx="6444088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Writes a list of strings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Does not insert newline automatically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Newline (\n) must be added manually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for writing multiple lines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write() and writelines()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844EF7-C75C-7D3C-65D8-F27D79629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928883"/>
              </p:ext>
            </p:extLst>
          </p:nvPr>
        </p:nvGraphicFramePr>
        <p:xfrm>
          <a:off x="2514600" y="2095499"/>
          <a:ext cx="13182600" cy="6858000"/>
        </p:xfrm>
        <a:graphic>
          <a:graphicData uri="http://schemas.openxmlformats.org/drawingml/2006/table">
            <a:tbl>
              <a:tblPr/>
              <a:tblGrid>
                <a:gridCol w="6591300">
                  <a:extLst>
                    <a:ext uri="{9D8B030D-6E8A-4147-A177-3AD203B41FA5}">
                      <a16:colId xmlns:a16="http://schemas.microsoft.com/office/drawing/2014/main" val="2561663081"/>
                    </a:ext>
                  </a:extLst>
                </a:gridCol>
                <a:gridCol w="6591300">
                  <a:extLst>
                    <a:ext uri="{9D8B030D-6E8A-4147-A177-3AD203B41FA5}">
                      <a16:colId xmlns:a16="http://schemas.microsoft.com/office/drawing/2014/main" val="221325006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write()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writelines()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57181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Writes a single string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Writes multiple strings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98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Used one line at a time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Uses list/sequence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2404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Adds no newline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Adds no newline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9081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Common in small writes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Better for bulk data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4826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9ED75F9-4135-53F7-35F7-3C9FFFEA6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Appending to a Text File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75764"/>
            <a:ext cx="16230600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Appending means adding data at the end of an existing file without deleting old data.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is done using append mode (a).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Append Mode (a)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 = open("filename", "a")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 pointer is placed at the end of the file.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 file does not exist, it is created automatically.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6763894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Appending Using write()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7319"/>
            <a:ext cx="8115300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"a")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</a:t>
            </a: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("\</a:t>
            </a:r>
            <a:r>
              <a:rPr lang="en-US" sz="39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nThis</a:t>
            </a: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line is appended.")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</a:t>
            </a: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946023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Appending Using </a:t>
            </a:r>
            <a:r>
              <a:rPr lang="en-US" sz="4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writelines</a:t>
            </a:r>
            <a:r>
              <a:rPr lang="en-US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872181"/>
            <a:ext cx="1032968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"a")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= ["\</a:t>
            </a:r>
            <a:r>
              <a:rPr lang="en-US" sz="39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nNew</a:t>
            </a: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Line 1", "\</a:t>
            </a:r>
            <a:r>
              <a:rPr lang="en-US" sz="39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nNew</a:t>
            </a: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Line 2"]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f.writelines</a:t>
            </a: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(data)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</a:t>
            </a:r>
            <a:r>
              <a:rPr lang="en-US" sz="3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48736" y="942975"/>
            <a:ext cx="5880335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with Statement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1907319"/>
            <a:ext cx="8771679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open("sample.txt", "a") as f: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f.write("\nFile closed automatically")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 and Read Mode (a+)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7319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"a+")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f.write("\nAppending and reading")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f.seek(0)                                                          # move pointer to start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print(f.read())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 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What happens if you don’t use seek() in a+ mode? 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a file is opened in a+ mode (append + read), the file pointer is placed at the end of the file. If seek() is not used in a+ mode, any read operation will return no output (empty string) because the file pointer is already at the end of the file.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write() and writelines()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58D59-2F41-2C7C-B6CD-A0B2385A0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990914"/>
              </p:ext>
            </p:extLst>
          </p:nvPr>
        </p:nvGraphicFramePr>
        <p:xfrm>
          <a:off x="1295400" y="2628900"/>
          <a:ext cx="15240000" cy="5181600"/>
        </p:xfrm>
        <a:graphic>
          <a:graphicData uri="http://schemas.openxmlformats.org/drawingml/2006/table">
            <a:tbl>
              <a:tblPr/>
              <a:tblGrid>
                <a:gridCol w="7620000">
                  <a:extLst>
                    <a:ext uri="{9D8B030D-6E8A-4147-A177-3AD203B41FA5}">
                      <a16:colId xmlns:a16="http://schemas.microsoft.com/office/drawing/2014/main" val="3869828069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366119726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write()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writelines()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38841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</a:rPr>
                        <a:t>Writes a </a:t>
                      </a:r>
                      <a:r>
                        <a:rPr lang="en-US" sz="2800" b="1" i="0">
                          <a:solidFill>
                            <a:srgbClr val="000000"/>
                          </a:solidFill>
                          <a:effectLst/>
                        </a:rPr>
                        <a:t>single string</a:t>
                      </a: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</a:rPr>
                        <a:t> to a file</a:t>
                      </a:r>
                      <a:endParaRPr lang="en-US" sz="2800">
                        <a:effectLst/>
                      </a:endParaRP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</a:rPr>
                        <a:t>Writes a </a:t>
                      </a:r>
                      <a:r>
                        <a:rPr lang="en-US" sz="2800" b="1" i="0">
                          <a:solidFill>
                            <a:srgbClr val="000000"/>
                          </a:solidFill>
                          <a:effectLst/>
                        </a:rPr>
                        <a:t>list of strings</a:t>
                      </a: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</a:rPr>
                        <a:t> to a file</a:t>
                      </a:r>
                      <a:endParaRPr lang="en-US" sz="2800">
                        <a:effectLst/>
                      </a:endParaRP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4199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Used for writing one line at a time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Used for writing multiple lines together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448827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Returns number of characters written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Does not return any value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80170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BDCB4BE-4B33-A211-BE7F-45D01A8FA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3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Write Mode (w) and Append Mode (a)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BD7616-3189-1002-484E-09CC87503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313925"/>
              </p:ext>
            </p:extLst>
          </p:nvPr>
        </p:nvGraphicFramePr>
        <p:xfrm>
          <a:off x="1031378" y="2289173"/>
          <a:ext cx="14818222" cy="5521324"/>
        </p:xfrm>
        <a:graphic>
          <a:graphicData uri="http://schemas.openxmlformats.org/drawingml/2006/table">
            <a:tbl>
              <a:tblPr/>
              <a:tblGrid>
                <a:gridCol w="7409111">
                  <a:extLst>
                    <a:ext uri="{9D8B030D-6E8A-4147-A177-3AD203B41FA5}">
                      <a16:colId xmlns:a16="http://schemas.microsoft.com/office/drawing/2014/main" val="2408976960"/>
                    </a:ext>
                  </a:extLst>
                </a:gridCol>
                <a:gridCol w="7409111">
                  <a:extLst>
                    <a:ext uri="{9D8B030D-6E8A-4147-A177-3AD203B41FA5}">
                      <a16:colId xmlns:a16="http://schemas.microsoft.com/office/drawing/2014/main" val="2727759268"/>
                    </a:ext>
                  </a:extLst>
                </a:gridCol>
              </a:tblGrid>
              <a:tr h="1380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 Mode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 Mode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90169"/>
                  </a:ext>
                </a:extLst>
              </a:tr>
              <a:tr h="1380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Overwrites existing file content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Adds data at the end of file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963280"/>
                  </a:ext>
                </a:extLst>
              </a:tr>
              <a:tr h="1380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Deletes old data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Preserves old data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784145"/>
                  </a:ext>
                </a:extLst>
              </a:tr>
              <a:tr h="1380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File pointer starts at beginning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2800" dirty="0">
                          <a:effectLst/>
                        </a:rPr>
                        <a:t>File pointer starts at end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33210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546BD6F-7F04-4847-EA19-67DF04B04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Difference between Append (a) and Append-Read (a+)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C0BCB3-905A-F1B0-06FA-37F25D0B5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60950"/>
              </p:ext>
            </p:extLst>
          </p:nvPr>
        </p:nvGraphicFramePr>
        <p:xfrm>
          <a:off x="1287534" y="2289174"/>
          <a:ext cx="15019266" cy="4835528"/>
        </p:xfrm>
        <a:graphic>
          <a:graphicData uri="http://schemas.openxmlformats.org/drawingml/2006/table">
            <a:tbl>
              <a:tblPr/>
              <a:tblGrid>
                <a:gridCol w="7509633">
                  <a:extLst>
                    <a:ext uri="{9D8B030D-6E8A-4147-A177-3AD203B41FA5}">
                      <a16:colId xmlns:a16="http://schemas.microsoft.com/office/drawing/2014/main" val="2202112199"/>
                    </a:ext>
                  </a:extLst>
                </a:gridCol>
                <a:gridCol w="7509633">
                  <a:extLst>
                    <a:ext uri="{9D8B030D-6E8A-4147-A177-3AD203B41FA5}">
                      <a16:colId xmlns:a16="http://schemas.microsoft.com/office/drawing/2014/main" val="2301480582"/>
                    </a:ext>
                  </a:extLst>
                </a:gridCol>
              </a:tblGrid>
              <a:tr h="1208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 Mode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a+ Mode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244976"/>
                  </a:ext>
                </a:extLst>
              </a:tr>
              <a:tr h="1208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Used only for appending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Used for appending and reading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83039"/>
                  </a:ext>
                </a:extLst>
              </a:tr>
              <a:tr h="1208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File pointer at end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File pointer at end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456930"/>
                  </a:ext>
                </a:extLst>
              </a:tr>
              <a:tr h="1208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Cannot read file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Can read file after seek()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31741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6BC6915-35CA-FA63-F772-E3F2217A3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flush() Function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01986"/>
            <a:ext cx="1623060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flush() function is used to forcefully write (flush) any buffered data to the file immediately.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Normally, Python stores written data in a buffer and writes it to the file later.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flush() ensures that whatever is in the buffer is saved to the file right now. 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Definition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flush() function clears the file buffer by writing all buffered data to the file without closing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What is a Buffer (in File Handling)?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buffer is a temporary memory area (RAM) where data is stored before being written to a file.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you use write() or writelines(), Python does not write data directly to the file.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It first stores it in the buffer.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buffer is a temporary memory area that holds data before it is permanently written to a file.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032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 :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file_object.flush()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flush() Needed?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make sure data is saved immediately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Useful when: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Writing data continuously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 may terminate unexpectedly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is read by another program while still open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flush() does not close the file.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Removing Whitespaces After Reading from a File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44208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we read data from a text file, it often contains: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Leading spaces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Trailing spaces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Newline character \n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string methods to remove these whitespaces after reading.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strip() – Remove spaces from both sides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Removes leading and trailing whitespaces, including \n.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string.strip()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73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lstrip() – Remove leading whitespaces only :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 :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string.lstrip()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rstrip() – Remove trailing whitespaces only :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 :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string.rstrip()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rstrip() used after readline()?   (2018, 2020, 2023)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readline() reads a line along with the newline character \n.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rstrip() is used to remove this trailing newline character.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1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Differentiate between strip(), lstrip() and rstrip(). (2018, 2021, 2024)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0D57CF-7D06-4F0A-39B0-9BC927210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193401"/>
              </p:ext>
            </p:extLst>
          </p:nvPr>
        </p:nvGraphicFramePr>
        <p:xfrm>
          <a:off x="1600200" y="2933700"/>
          <a:ext cx="15163800" cy="4267201"/>
        </p:xfrm>
        <a:graphic>
          <a:graphicData uri="http://schemas.openxmlformats.org/drawingml/2006/table">
            <a:tbl>
              <a:tblPr/>
              <a:tblGrid>
                <a:gridCol w="5054600">
                  <a:extLst>
                    <a:ext uri="{9D8B030D-6E8A-4147-A177-3AD203B41FA5}">
                      <a16:colId xmlns:a16="http://schemas.microsoft.com/office/drawing/2014/main" val="3310620577"/>
                    </a:ext>
                  </a:extLst>
                </a:gridCol>
                <a:gridCol w="5054600">
                  <a:extLst>
                    <a:ext uri="{9D8B030D-6E8A-4147-A177-3AD203B41FA5}">
                      <a16:colId xmlns:a16="http://schemas.microsoft.com/office/drawing/2014/main" val="857104663"/>
                    </a:ext>
                  </a:extLst>
                </a:gridCol>
                <a:gridCol w="5054600">
                  <a:extLst>
                    <a:ext uri="{9D8B030D-6E8A-4147-A177-3AD203B41FA5}">
                      <a16:colId xmlns:a16="http://schemas.microsoft.com/office/drawing/2014/main" val="1710752728"/>
                    </a:ext>
                  </a:extLst>
                </a:gridCol>
              </a:tblGrid>
              <a:tr h="1306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Method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What it removes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Position of whitespaces removed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660212"/>
                  </a:ext>
                </a:extLst>
              </a:tr>
              <a:tr h="98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strip()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800" b="0" i="0">
                          <a:solidFill>
                            <a:srgbClr val="000000"/>
                          </a:solidFill>
                          <a:effectLst/>
                        </a:rPr>
                        <a:t>Leading </a:t>
                      </a:r>
                      <a:r>
                        <a:rPr lang="en-IN" sz="2800" b="1" i="0">
                          <a:solidFill>
                            <a:srgbClr val="000000"/>
                          </a:solidFill>
                          <a:effectLst/>
                        </a:rPr>
                        <a:t>and</a:t>
                      </a:r>
                      <a:r>
                        <a:rPr lang="en-IN" sz="2800" b="0" i="0">
                          <a:solidFill>
                            <a:srgbClr val="000000"/>
                          </a:solidFill>
                          <a:effectLst/>
                        </a:rPr>
                        <a:t> trailing whitespaces</a:t>
                      </a:r>
                      <a:endParaRPr lang="en-IN" sz="28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Both left and right sides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005674"/>
                  </a:ext>
                </a:extLst>
              </a:tr>
              <a:tr h="98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lstrip()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Leading whitespaces only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Left side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687108"/>
                  </a:ext>
                </a:extLst>
              </a:tr>
              <a:tr h="98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rstrip()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Trailing whitespaces only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Right side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51771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9DAF38D-176F-E7ED-9CA4-59107BE37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7325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040100" cy="688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Significance of File Pointer in File Handling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9699" y="1905635"/>
            <a:ext cx="17308601" cy="857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file pointer is a marker that shows the current position in a file from where data will be read or written next. Whenever a file is opened, the file pointer is automatically placed at the beginning of the file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keeps track of the current location in the file.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helps in reading or writing data sequentially.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allows random access to different positions in a file using functions like seek()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prevents data from being read or written at the wrong location.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automatically updated after every read or write operation.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Modes and Opening Position of File Pointer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98CAB8-EAAE-D976-C2BC-60CFF6786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169456"/>
              </p:ext>
            </p:extLst>
          </p:nvPr>
        </p:nvGraphicFramePr>
        <p:xfrm>
          <a:off x="1219200" y="2101853"/>
          <a:ext cx="15773400" cy="7293656"/>
        </p:xfrm>
        <a:graphic>
          <a:graphicData uri="http://schemas.openxmlformats.org/drawingml/2006/table">
            <a:tbl>
              <a:tblPr/>
              <a:tblGrid>
                <a:gridCol w="4038600">
                  <a:extLst>
                    <a:ext uri="{9D8B030D-6E8A-4147-A177-3AD203B41FA5}">
                      <a16:colId xmlns:a16="http://schemas.microsoft.com/office/drawing/2014/main" val="1545820407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33319991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48107593"/>
                    </a:ext>
                  </a:extLst>
                </a:gridCol>
              </a:tblGrid>
              <a:tr h="56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File Mode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Purpose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effectLst/>
                        </a:rPr>
                        <a:t>Opening Position of File Pointer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69277"/>
                  </a:ext>
                </a:extLst>
              </a:tr>
              <a:tr h="56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"r"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Opens a file for reading only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33189"/>
                  </a:ext>
                </a:extLst>
              </a:tr>
              <a:tr h="125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"w"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Opens a file for writing; creates a new file or overwrites existing content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65456"/>
                  </a:ext>
                </a:extLst>
              </a:tr>
              <a:tr h="56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"a"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Opens a file for appending data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End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18500"/>
                  </a:ext>
                </a:extLst>
              </a:tr>
              <a:tr h="85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"r+"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Opens a file for both reading and writing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167030"/>
                  </a:ext>
                </a:extLst>
              </a:tr>
              <a:tr h="85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"w+"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Opens a file for reading and writing; overwrites existing content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719281"/>
                  </a:ext>
                </a:extLst>
              </a:tr>
              <a:tr h="85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"a+"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Opens a file for reading and appending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End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053741"/>
                  </a:ext>
                </a:extLst>
              </a:tr>
              <a:tr h="56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"rb"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Opens a binary file for reading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105878"/>
                  </a:ext>
                </a:extLst>
              </a:tr>
              <a:tr h="56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"wb"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Opens a binary file for writing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8254"/>
                  </a:ext>
                </a:extLst>
              </a:tr>
              <a:tr h="56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"ab"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Opens a binary file for appending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End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07945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EC1135D-714B-2DC6-8C94-5F422ED74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152241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Input, Output and Error Streams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17165"/>
            <a:ext cx="1623060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file handling, Python uses three standard streams to perform input, output, and error-related operations. These streams act as communication channels between the user, program, and files.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6552AC-EA84-55E7-5C59-B469E6562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224740"/>
              </p:ext>
            </p:extLst>
          </p:nvPr>
        </p:nvGraphicFramePr>
        <p:xfrm>
          <a:off x="1028700" y="4182935"/>
          <a:ext cx="15430504" cy="4503865"/>
        </p:xfrm>
        <a:graphic>
          <a:graphicData uri="http://schemas.openxmlformats.org/drawingml/2006/table">
            <a:tbl>
              <a:tblPr/>
              <a:tblGrid>
                <a:gridCol w="3857626">
                  <a:extLst>
                    <a:ext uri="{9D8B030D-6E8A-4147-A177-3AD203B41FA5}">
                      <a16:colId xmlns:a16="http://schemas.microsoft.com/office/drawing/2014/main" val="3337039845"/>
                    </a:ext>
                  </a:extLst>
                </a:gridCol>
                <a:gridCol w="3857626">
                  <a:extLst>
                    <a:ext uri="{9D8B030D-6E8A-4147-A177-3AD203B41FA5}">
                      <a16:colId xmlns:a16="http://schemas.microsoft.com/office/drawing/2014/main" val="2946408238"/>
                    </a:ext>
                  </a:extLst>
                </a:gridCol>
                <a:gridCol w="3857626">
                  <a:extLst>
                    <a:ext uri="{9D8B030D-6E8A-4147-A177-3AD203B41FA5}">
                      <a16:colId xmlns:a16="http://schemas.microsoft.com/office/drawing/2014/main" val="3126218010"/>
                    </a:ext>
                  </a:extLst>
                </a:gridCol>
                <a:gridCol w="3857626">
                  <a:extLst>
                    <a:ext uri="{9D8B030D-6E8A-4147-A177-3AD203B41FA5}">
                      <a16:colId xmlns:a16="http://schemas.microsoft.com/office/drawing/2014/main" val="3720280241"/>
                    </a:ext>
                  </a:extLst>
                </a:gridCol>
              </a:tblGrid>
              <a:tr h="760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Stream 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Meaning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Purpose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Default Device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690398"/>
                  </a:ext>
                </a:extLst>
              </a:tr>
              <a:tr h="124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stdin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Standard Input Stream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Takes input into the program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Keyboard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058265"/>
                  </a:ext>
                </a:extLst>
              </a:tr>
              <a:tr h="124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stdout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Standard Output Stream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Displays normal output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Monitor/Screen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21233"/>
                  </a:ext>
                </a:extLst>
              </a:tr>
              <a:tr h="124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stderr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Standard Error Stream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Displays error messages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Monitor/Screen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2230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83BEF59-FDA7-3171-1D67-9CA9DC1BC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Input Stream (stdin)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24764"/>
            <a:ext cx="162306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for taking input from the user.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entered through the keyboard can later be stored in a file.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346457"/>
            <a:ext cx="16230600" cy="3508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endParaRPr/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name = input("Enter your name: ")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= open("data.txt", "w")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f.write(name)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f.close()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428445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 is taken through stdin.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entered data is written into a file.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Output Stream (stdout)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40365"/>
            <a:ext cx="162306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to display output on the screen.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read from a file is usually displayed using stdout.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06605"/>
            <a:ext cx="16230600" cy="2803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= open("data.txt", "r")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= f.read()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print(data)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f.close()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095891"/>
            <a:ext cx="16230600" cy="139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is read from the file.</a:t>
            </a: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print() sends the output to stdout (screen).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Error Stream (stderr)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20379"/>
            <a:ext cx="16230600" cy="118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179" lvl="1" indent="-367090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 to display file-related error messages.</a:t>
            </a:r>
          </a:p>
          <a:p>
            <a:pPr marL="734179" lvl="1" indent="-367090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Helps identify problems during file operations.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1158" y="3781448"/>
            <a:ext cx="16230600" cy="580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= open("abc.txt", "r")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1158" y="4942442"/>
            <a:ext cx="16643939" cy="238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Possible Output :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FileNotFoundError: [Errno 2] No such file or directory: 'abc.txt'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error message is displayed through stderr.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Absolute and Relative Paths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9118" y="2078765"/>
            <a:ext cx="16220182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path specifies the location of a file or folder in a computer system. In Python file handling, paths are used to open and access files.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Paths are mainly of two types: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Absolute Path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Relative Path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6173880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Absolute Path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9118" y="7068370"/>
            <a:ext cx="16220182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absolute path gives the complete location of a file starting from the root directory or drive.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contains the full path of the file.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does not depend on the current working directory.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3286244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Relative Path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154930"/>
            <a:ext cx="16230600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relative path specifies the file location with respect to the current working directory.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does not start from the root directory.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shorter and easier to write.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depends on the current folder.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Relative paths are preferred in projects because: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Relative paths are shorter, easier to write, and make projects portable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Files can be moved easily from one system to another.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0790" y="962025"/>
            <a:ext cx="16209764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always points to the same location.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One major disadvantage is that absolute paths are long and may not work if the file location changes.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Absolute and Relative Path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ECF831-87C0-52D4-48B8-E33830E91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67573"/>
              </p:ext>
            </p:extLst>
          </p:nvPr>
        </p:nvGraphicFramePr>
        <p:xfrm>
          <a:off x="1028699" y="2257426"/>
          <a:ext cx="15343188" cy="6619875"/>
        </p:xfrm>
        <a:graphic>
          <a:graphicData uri="http://schemas.openxmlformats.org/drawingml/2006/table">
            <a:tbl>
              <a:tblPr/>
              <a:tblGrid>
                <a:gridCol w="7671594">
                  <a:extLst>
                    <a:ext uri="{9D8B030D-6E8A-4147-A177-3AD203B41FA5}">
                      <a16:colId xmlns:a16="http://schemas.microsoft.com/office/drawing/2014/main" val="1348142779"/>
                    </a:ext>
                  </a:extLst>
                </a:gridCol>
                <a:gridCol w="7671594">
                  <a:extLst>
                    <a:ext uri="{9D8B030D-6E8A-4147-A177-3AD203B41FA5}">
                      <a16:colId xmlns:a16="http://schemas.microsoft.com/office/drawing/2014/main" val="3754682600"/>
                    </a:ext>
                  </a:extLst>
                </a:gridCol>
              </a:tblGrid>
              <a:tr h="1323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Absolute Path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Relative Path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741281"/>
                  </a:ext>
                </a:extLst>
              </a:tr>
              <a:tr h="1323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Gives complete file location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Gives location relative to current directory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408268"/>
                  </a:ext>
                </a:extLst>
              </a:tr>
              <a:tr h="1323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Starts from root directory or drive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Starts from current folder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120289"/>
                  </a:ext>
                </a:extLst>
              </a:tr>
              <a:tr h="1323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Independent of current working directory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Depends on current working directory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196390"/>
                  </a:ext>
                </a:extLst>
              </a:tr>
              <a:tr h="1323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Longer path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Shorter path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12067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D452CF3-C673-9983-0BF4-3D2C1BD43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2977</Words>
  <Application>Microsoft Office PowerPoint</Application>
  <PresentationFormat>Custom</PresentationFormat>
  <Paragraphs>440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Retropix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</dc:title>
  <dc:creator>Dhirendra</dc:creator>
  <cp:lastModifiedBy>DHIRENDRA TIWARI</cp:lastModifiedBy>
  <cp:revision>4</cp:revision>
  <dcterms:created xsi:type="dcterms:W3CDTF">2006-08-16T00:00:00Z</dcterms:created>
  <dcterms:modified xsi:type="dcterms:W3CDTF">2026-06-05T07:19:47Z</dcterms:modified>
  <dc:identifier>DAG8f1u5cls</dc:identifier>
</cp:coreProperties>
</file>